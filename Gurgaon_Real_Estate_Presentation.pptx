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Avg Price (₹ Cr)</c:v>
                </c:pt>
              </c:strCache>
            </c:strRef>
          </c:tx>
          <c:spPr>
            <a:solidFill>
              <a:srgbClr val="1E2761"/>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Sheet1!$A$2:$A$6</c:f>
              <c:multiLvlStrCache>
                <c:ptCount val="5"/>
                <c:lvl>
                  <c:pt idx="0">
                    <c:v>Golf Course Rd</c:v>
                  </c:pt>
                  <c:pt idx="1">
                    <c:v>Aralias Drive</c:v>
                  </c:pt>
                  <c:pt idx="2">
                    <c:v>Beverly Park</c:v>
                  </c:pt>
                  <c:pt idx="3">
                    <c:v>Sector 42</c:v>
                  </c:pt>
                  <c:pt idx="4">
                    <c:v>Baliawas</c:v>
                  </c:pt>
                </c:lvl>
              </c:multiLvlStrCache>
            </c:multiLvlStrRef>
          </c:cat>
          <c:val>
            <c:numRef>
              <c:f>Sheet1!$B$2:$B$6</c:f>
              <c:numCache>
                <c:formatCode>General</c:formatCode>
                <c:ptCount val="5"/>
                <c:pt idx="0">
                  <c:v>14.8</c:v>
                </c:pt>
                <c:pt idx="1">
                  <c:v>16.4</c:v>
                </c:pt>
                <c:pt idx="2">
                  <c:v>19.5</c:v>
                </c:pt>
                <c:pt idx="3">
                  <c:v>50.2</c:v>
                </c:pt>
                <c:pt idx="4">
                  <c:v>58.3</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68"/>
        </c:scaling>
        <c:delete val="0"/>
        <c:axPos val="b"/>
        <c:majorGridlines>
          <c:spPr>
            <a:ln w="12700" cap="flat">
              <a:solidFill>
                <a:srgbClr val="EDEFF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Rate/sqft (₹)</c:v>
                </c:pt>
              </c:strCache>
            </c:strRef>
          </c:tx>
          <c:spPr>
            <a:solidFill>
              <a:srgbClr val="C9974B"/>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Sheet1!$A$2:$A$6</c:f>
              <c:multiLvlStrCache>
                <c:ptCount val="5"/>
                <c:lvl>
                  <c:pt idx="0">
                    <c:v>Sector 54</c:v>
                  </c:pt>
                  <c:pt idx="1">
                    <c:v>Sector 53</c:v>
                  </c:pt>
                  <c:pt idx="2">
                    <c:v>Sector 114</c:v>
                  </c:pt>
                  <c:pt idx="3">
                    <c:v>Sector 113</c:v>
                  </c:pt>
                  <c:pt idx="4">
                    <c:v>Sector 42</c:v>
                  </c:pt>
                </c:lvl>
              </c:multiLvlStrCache>
            </c:multiLvlStrRef>
          </c:cat>
          <c:val>
            <c:numRef>
              <c:f>Sheet1!$B$2:$B$6</c:f>
              <c:numCache>
                <c:formatCode>General</c:formatCode>
                <c:ptCount val="5"/>
                <c:pt idx="0">
                  <c:v>28109</c:v>
                </c:pt>
                <c:pt idx="1">
                  <c:v>29203</c:v>
                </c:pt>
                <c:pt idx="2">
                  <c:v>33347</c:v>
                </c:pt>
                <c:pt idx="3">
                  <c:v>52404</c:v>
                </c:pt>
                <c:pt idx="4">
                  <c:v>55989</c:v>
                </c:pt>
              </c:numCache>
            </c:numRef>
          </c:val>
        </c:ser>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64000"/>
        </c:scaling>
        <c:delete val="0"/>
        <c:axPos val="b"/>
        <c:majorGridlines>
          <c:spPr>
            <a:ln w="12700" cap="flat">
              <a:solidFill>
                <a:srgbClr val="EDEFF5"/>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Median Price (₹ Cr)</c:v>
                </c:pt>
              </c:strCache>
            </c:strRef>
          </c:tx>
          <c:spPr>
            <a:solidFill>
              <a:srgbClr val="1E2761"/>
            </a:solidFill>
            <a:effectLst/>
          </c:spPr>
          <c:invertIfNegative val="0"/>
          <c:dLbls>
            <c:numFmt formatCode="0.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New</c:v>
                  </c:pt>
                  <c:pt idx="1">
                    <c:v>Ready to Move</c:v>
                  </c:pt>
                  <c:pt idx="2">
                    <c:v>Under Construction</c:v>
                  </c:pt>
                  <c:pt idx="3">
                    <c:v>Resale</c:v>
                  </c:pt>
                </c:lvl>
              </c:multiLvlStrCache>
            </c:multiLvlStrRef>
          </c:cat>
          <c:val>
            <c:numRef>
              <c:f>Sheet1!$B$2:$B$5</c:f>
              <c:numCache>
                <c:formatCode>General</c:formatCode>
                <c:ptCount val="4"/>
                <c:pt idx="0">
                  <c:v>1.35</c:v>
                </c:pt>
                <c:pt idx="1">
                  <c:v>2.6</c:v>
                </c:pt>
                <c:pt idx="2">
                  <c:v>2.86</c:v>
                </c:pt>
                <c:pt idx="3">
                  <c:v>3.65</c:v>
                </c:pt>
              </c:numCache>
            </c:numRef>
          </c:val>
        </c:ser>
        <c:dLbls>
          <c:numFmt formatCode="0.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4.3"/>
        </c:scaling>
        <c:delete val="0"/>
        <c:axPos val="l"/>
        <c:majorGridlines>
          <c:spPr>
            <a:ln w="12700" cap="flat">
              <a:solidFill>
                <a:srgbClr val="EDEF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Price (₹ Cr)</c:v>
                </c:pt>
              </c:strCache>
            </c:strRef>
          </c:tx>
          <c:spPr>
            <a:solidFill>
              <a:srgbClr val="C9974B"/>
            </a:solidFill>
            <a:ln>
              <a:noFill/>
            </a:ln>
            <a:effectLst/>
          </c:spPr>
          <c:marker>
            <c:symbol val="circle"/>
            <c:size val="7"/>
            <c:spPr>
              <a:solidFill>
                <a:srgbClr val="C9974B"/>
              </a:solidFill>
              <a:ln w="9525" cap="flat">
                <a:solidFill>
                  <a:srgbClr val="C9974B"/>
                </a:solidFill>
                <a:prstDash val="solid"/>
                <a:round/>
              </a:ln>
              <a:effectLst/>
            </c:spPr>
          </c:marker>
          <c:xVal>
            <c:numRef>
              <c:f>Sheet1!$A$2:$A$21</c:f>
              <c:numCache>
                <c:formatCode>General</c:formatCode>
                <c:ptCount val="20"/>
                <c:pt idx="0">
                  <c:v>900</c:v>
                </c:pt>
                <c:pt idx="1">
                  <c:v>1000</c:v>
                </c:pt>
                <c:pt idx="2">
                  <c:v>1138</c:v>
                </c:pt>
                <c:pt idx="3">
                  <c:v>1200</c:v>
                </c:pt>
                <c:pt idx="4">
                  <c:v>1400</c:v>
                </c:pt>
                <c:pt idx="5">
                  <c:v>1528</c:v>
                </c:pt>
                <c:pt idx="6">
                  <c:v>1600</c:v>
                </c:pt>
                <c:pt idx="7">
                  <c:v>1800</c:v>
                </c:pt>
                <c:pt idx="8">
                  <c:v>2000</c:v>
                </c:pt>
                <c:pt idx="9">
                  <c:v>2200</c:v>
                </c:pt>
                <c:pt idx="10">
                  <c:v>2400</c:v>
                </c:pt>
                <c:pt idx="11">
                  <c:v>2600</c:v>
                </c:pt>
                <c:pt idx="12">
                  <c:v>2800</c:v>
                </c:pt>
                <c:pt idx="13">
                  <c:v>3200</c:v>
                </c:pt>
                <c:pt idx="14">
                  <c:v>3600</c:v>
                </c:pt>
                <c:pt idx="15">
                  <c:v>4200</c:v>
                </c:pt>
                <c:pt idx="16">
                  <c:v>4500</c:v>
                </c:pt>
                <c:pt idx="17">
                  <c:v>5000</c:v>
                </c:pt>
                <c:pt idx="18">
                  <c:v>7000</c:v>
                </c:pt>
                <c:pt idx="19">
                  <c:v>16500</c:v>
                </c:pt>
              </c:numCache>
            </c:numRef>
          </c:xVal>
          <c:yVal>
            <c:numRef>
              <c:f>Sheet1!$B$2:$B$21</c:f>
              <c:numCache>
                <c:formatCode>General</c:formatCode>
                <c:ptCount val="20"/>
                <c:pt idx="0">
                  <c:v>0.75</c:v>
                </c:pt>
                <c:pt idx="1">
                  <c:v>0.95</c:v>
                </c:pt>
                <c:pt idx="2">
                  <c:v>1.07</c:v>
                </c:pt>
                <c:pt idx="3">
                  <c:v>1.1</c:v>
                </c:pt>
                <c:pt idx="4">
                  <c:v>1.3</c:v>
                </c:pt>
                <c:pt idx="5">
                  <c:v>1.44</c:v>
                </c:pt>
                <c:pt idx="6">
                  <c:v>1.6</c:v>
                </c:pt>
                <c:pt idx="7">
                  <c:v>1.9</c:v>
                </c:pt>
                <c:pt idx="8">
                  <c:v>2.2</c:v>
                </c:pt>
                <c:pt idx="9">
                  <c:v>2</c:v>
                </c:pt>
                <c:pt idx="10">
                  <c:v>2.6</c:v>
                </c:pt>
                <c:pt idx="11">
                  <c:v>2.9</c:v>
                </c:pt>
                <c:pt idx="12">
                  <c:v>3.5</c:v>
                </c:pt>
                <c:pt idx="13">
                  <c:v>4.2</c:v>
                </c:pt>
                <c:pt idx="14">
                  <c:v>4.5</c:v>
                </c:pt>
                <c:pt idx="15">
                  <c:v>5.1</c:v>
                </c:pt>
                <c:pt idx="16">
                  <c:v>4</c:v>
                </c:pt>
                <c:pt idx="17">
                  <c:v>6</c:v>
                </c:pt>
                <c:pt idx="18">
                  <c:v>9.5</c:v>
                </c:pt>
                <c:pt idx="19">
                  <c:v>122.63</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12700" cap="flat">
              <a:solidFill>
                <a:srgbClr val="EDEFF5"/>
              </a:solidFill>
              <a:prstDash val="solid"/>
              <a:round/>
            </a:ln>
          </c:spPr>
        </c:majorGridlines>
        <c:title>
          <c:tx>
            <c:rich>
              <a:bodyPr/>
              <a:lstStyle/>
              <a:p>
                <a:pPr>
                  <a:defRPr sz="1100" b="0" i="0" u="none" strike="noStrike">
                    <a:solidFill>
                      <a:srgbClr val="5A6B87"/>
                    </a:solidFill>
                    <a:latin typeface="Arial"/>
                  </a:defRPr>
                </a:pPr>
                <a:r>
                  <a:rPr sz="1100" b="0" i="0" u="none" strike="noStrike">
                    <a:solidFill>
                      <a:srgbClr val="5A6B87"/>
                    </a:solidFill>
                    <a:latin typeface="Arial"/>
                  </a:rPr>
                  <a:t>Area (sqft)</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5A6B87"/>
                </a:solidFill>
                <a:latin typeface="Arial"/>
              </a:defRPr>
            </a:pPr>
            <a:endParaRPr lang="en-US"/>
          </a:p>
        </c:txPr>
        <c:crossAx val="2094734552"/>
        <c:crosses val="autoZero"/>
        <c:auto val="1"/>
        <c:lblAlgn val="ctr"/>
        <c:noMultiLvlLbl val="1"/>
      </c:valAx>
      <c:valAx>
        <c:axId val="2094734552"/>
        <c:scaling>
          <c:orientation val="minMax"/>
        </c:scaling>
        <c:delete val="0"/>
        <c:axPos val="l"/>
        <c:majorGridlines>
          <c:spPr>
            <a:ln w="12700" cap="flat">
              <a:solidFill>
                <a:srgbClr val="EDEFF5"/>
              </a:solidFill>
              <a:prstDash val="solid"/>
              <a:round/>
            </a:ln>
          </c:spPr>
        </c:majorGridlines>
        <c:title>
          <c:tx>
            <c:rich>
              <a:bodyPr/>
              <a:lstStyle/>
              <a:p>
                <a:pPr>
                  <a:defRPr sz="1100" b="0" i="0" u="none" strike="noStrike">
                    <a:solidFill>
                      <a:srgbClr val="5A6B87"/>
                    </a:solidFill>
                    <a:latin typeface="Arial"/>
                  </a:defRPr>
                </a:pPr>
                <a:r>
                  <a:rPr sz="1100" b="0" i="0" u="none" strike="noStrike">
                    <a:solidFill>
                      <a:srgbClr val="5A6B87"/>
                    </a:solidFill>
                    <a:latin typeface="Arial"/>
                  </a:rPr>
                  <a:t>Price (₹ Crore)</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A6B87"/>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 Value (₹ Cr)</c:v>
                </c:pt>
              </c:strCache>
            </c:strRef>
          </c:tx>
          <c:spPr>
            <a:solidFill>
              <a:srgbClr val="C9974B"/>
            </a:solidFill>
            <a:effectLst/>
          </c:spPr>
          <c:invertIfNegative val="0"/>
          <c:dLbls>
            <c:numFmt formatCode="#,##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multiLvlStrRef>
              <c:f>Sheet1!$A$2:$A$7</c:f>
              <c:multiLvlStrCache>
                <c:ptCount val="6"/>
                <c:lvl>
                  <c:pt idx="0">
                    <c:v>Penthouse</c:v>
                  </c:pt>
                  <c:pt idx="1">
                    <c:v>House</c:v>
                  </c:pt>
                  <c:pt idx="2">
                    <c:v>Villa</c:v>
                  </c:pt>
                  <c:pt idx="3">
                    <c:v>Floor</c:v>
                  </c:pt>
                  <c:pt idx="4">
                    <c:v>Plot</c:v>
                  </c:pt>
                  <c:pt idx="5">
                    <c:v>Apartment</c:v>
                  </c:pt>
                </c:lvl>
              </c:multiLvlStrCache>
            </c:multiLvlStrRef>
          </c:cat>
          <c:val>
            <c:numRef>
              <c:f>Sheet1!$B$2:$B$7</c:f>
              <c:numCache>
                <c:formatCode>General</c:formatCode>
                <c:ptCount val="6"/>
                <c:pt idx="0">
                  <c:v>441</c:v>
                </c:pt>
                <c:pt idx="1">
                  <c:v>561</c:v>
                </c:pt>
                <c:pt idx="2">
                  <c:v>1913</c:v>
                </c:pt>
                <c:pt idx="3">
                  <c:v>2668</c:v>
                </c:pt>
                <c:pt idx="4">
                  <c:v>5785</c:v>
                </c:pt>
                <c:pt idx="5">
                  <c:v>45459</c:v>
                </c:pt>
              </c:numCache>
            </c:numRef>
          </c:val>
        </c:ser>
        <c:dLbls>
          <c:numFmt formatCode="#,##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50000"/>
        </c:scaling>
        <c:delete val="0"/>
        <c:axPos val="b"/>
        <c:majorGridlines>
          <c:spPr>
            <a:ln w="12700" cap="flat">
              <a:solidFill>
                <a:srgbClr val="EDEFF5"/>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607040" y="3291840"/>
            <a:ext cx="502920" cy="3566160"/>
          </a:xfrm>
          <a:prstGeom prst="rect">
            <a:avLst/>
          </a:prstGeom>
          <a:solidFill>
            <a:srgbClr val="141B49"/>
          </a:solidFill>
          <a:ln/>
        </p:spPr>
      </p:sp>
      <p:sp>
        <p:nvSpPr>
          <p:cNvPr id="3" name="Shape 1"/>
          <p:cNvSpPr/>
          <p:nvPr/>
        </p:nvSpPr>
        <p:spPr>
          <a:xfrm>
            <a:off x="11201400" y="2651760"/>
            <a:ext cx="502920" cy="4206240"/>
          </a:xfrm>
          <a:prstGeom prst="rect">
            <a:avLst/>
          </a:prstGeom>
          <a:solidFill>
            <a:srgbClr val="141B49"/>
          </a:solidFill>
          <a:ln/>
        </p:spPr>
      </p:sp>
      <p:sp>
        <p:nvSpPr>
          <p:cNvPr id="4" name="Shape 2"/>
          <p:cNvSpPr/>
          <p:nvPr/>
        </p:nvSpPr>
        <p:spPr>
          <a:xfrm>
            <a:off x="10012680" y="3931920"/>
            <a:ext cx="457200" cy="2926080"/>
          </a:xfrm>
          <a:prstGeom prst="rect">
            <a:avLst/>
          </a:prstGeom>
          <a:solidFill>
            <a:srgbClr val="141B49"/>
          </a:solidFill>
          <a:ln/>
        </p:spPr>
      </p:sp>
      <p:sp>
        <p:nvSpPr>
          <p:cNvPr id="5" name="Shape 3"/>
          <p:cNvSpPr/>
          <p:nvPr/>
        </p:nvSpPr>
        <p:spPr>
          <a:xfrm>
            <a:off x="9464040" y="2834640"/>
            <a:ext cx="457200" cy="4023360"/>
          </a:xfrm>
          <a:prstGeom prst="rect">
            <a:avLst/>
          </a:prstGeom>
          <a:solidFill>
            <a:srgbClr val="141B49"/>
          </a:solidFill>
          <a:ln/>
        </p:spPr>
      </p:sp>
      <p:sp>
        <p:nvSpPr>
          <p:cNvPr id="6" name="Shape 4"/>
          <p:cNvSpPr/>
          <p:nvPr/>
        </p:nvSpPr>
        <p:spPr>
          <a:xfrm>
            <a:off x="8915400" y="4297680"/>
            <a:ext cx="457200" cy="2560320"/>
          </a:xfrm>
          <a:prstGeom prst="rect">
            <a:avLst/>
          </a:prstGeom>
          <a:solidFill>
            <a:srgbClr val="141B49"/>
          </a:solidFill>
          <a:ln/>
        </p:spPr>
      </p:sp>
      <p:sp>
        <p:nvSpPr>
          <p:cNvPr id="7" name="Shape 5"/>
          <p:cNvSpPr/>
          <p:nvPr/>
        </p:nvSpPr>
        <p:spPr>
          <a:xfrm>
            <a:off x="0" y="6537960"/>
            <a:ext cx="12188952" cy="320040"/>
          </a:xfrm>
          <a:prstGeom prst="rect">
            <a:avLst/>
          </a:prstGeom>
          <a:solidFill>
            <a:srgbClr val="141B49"/>
          </a:solidFill>
          <a:ln/>
        </p:spPr>
      </p:sp>
      <p:sp>
        <p:nvSpPr>
          <p:cNvPr id="8" name="Text 6"/>
          <p:cNvSpPr txBox="1"/>
          <p:nvPr/>
        </p:nvSpPr>
        <p:spPr>
          <a:xfrm>
            <a:off x="731520" y="2286000"/>
            <a:ext cx="7772400" cy="365760"/>
          </a:xfrm>
          <a:prstGeom prst="rect">
            <a:avLst/>
          </a:prstGeom>
          <a:noFill/>
          <a:ln/>
        </p:spPr>
        <p:txBody>
          <a:bodyPr wrap="square" lIns="0" tIns="0" rIns="0" bIns="0" rtlCol="0" anchor="ctr"/>
          <a:lstStyle/>
          <a:p>
            <a:pPr indent="0" marL="0">
              <a:buNone/>
            </a:pPr>
            <a:r>
              <a:rPr lang="en-US" sz="1400" b="1" spc="300" kern="0" dirty="0">
                <a:solidFill>
                  <a:srgbClr val="C9974B"/>
                </a:solidFill>
                <a:latin typeface="Calibri" pitchFamily="34" charset="0"/>
                <a:ea typeface="Calibri" pitchFamily="34" charset="-122"/>
                <a:cs typeface="Calibri" pitchFamily="34" charset="-120"/>
              </a:rPr>
              <a:t>GURGAON REAL ESTATE</a:t>
            </a:r>
            <a:endParaRPr lang="en-US" sz="1400" dirty="0"/>
          </a:p>
        </p:txBody>
      </p:sp>
      <p:sp>
        <p:nvSpPr>
          <p:cNvPr id="9" name="Text 7"/>
          <p:cNvSpPr txBox="1"/>
          <p:nvPr/>
        </p:nvSpPr>
        <p:spPr>
          <a:xfrm>
            <a:off x="685800" y="2606040"/>
            <a:ext cx="8686800" cy="118872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Market Analysis</a:t>
            </a:r>
            <a:endParaRPr lang="en-US" sz="4800" dirty="0"/>
          </a:p>
        </p:txBody>
      </p:sp>
      <p:sp>
        <p:nvSpPr>
          <p:cNvPr id="10" name="Text 8"/>
          <p:cNvSpPr txBox="1"/>
          <p:nvPr/>
        </p:nvSpPr>
        <p:spPr>
          <a:xfrm>
            <a:off x="731520" y="3794760"/>
            <a:ext cx="7315200" cy="73152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Data-backed insights on pricing, localities, and property types to guide</a:t>
            </a:r>
            <a:endParaRPr lang="en-US" sz="1500" dirty="0"/>
          </a:p>
          <a:p>
            <a:pPr indent="0" marL="0">
              <a:buNone/>
            </a:pPr>
            <a:r>
              <a:rPr lang="en-US" sz="1500" dirty="0">
                <a:solidFill>
                  <a:srgbClr val="CADCFC"/>
                </a:solidFill>
                <a:latin typeface="Calibri" pitchFamily="34" charset="0"/>
                <a:ea typeface="Calibri" pitchFamily="34" charset="-122"/>
                <a:cs typeface="Calibri" pitchFamily="34" charset="-120"/>
              </a:rPr>
              <a:t>buyers, investors, and developers across Gurgaon</a:t>
            </a:r>
            <a:endParaRPr lang="en-US" sz="1500" dirty="0"/>
          </a:p>
        </p:txBody>
      </p:sp>
      <p:sp>
        <p:nvSpPr>
          <p:cNvPr id="11" name="Text 9"/>
          <p:cNvSpPr txBox="1"/>
          <p:nvPr/>
        </p:nvSpPr>
        <p:spPr>
          <a:xfrm>
            <a:off x="731520" y="5943600"/>
            <a:ext cx="7315200" cy="320040"/>
          </a:xfrm>
          <a:prstGeom prst="rect">
            <a:avLst/>
          </a:prstGeom>
          <a:noFill/>
          <a:ln/>
        </p:spPr>
        <p:txBody>
          <a:bodyPr wrap="square" lIns="0" tIns="0" rIns="0" bIns="0" rtlCol="0" anchor="ctr"/>
          <a:lstStyle/>
          <a:p>
            <a:pPr indent="0" marL="0">
              <a:buNone/>
            </a:pPr>
            <a:r>
              <a:rPr lang="en-US" sz="1100" dirty="0">
                <a:solidFill>
                  <a:srgbClr val="5A6B87"/>
                </a:solidFill>
                <a:latin typeface="Calibri" pitchFamily="34" charset="0"/>
                <a:ea typeface="Calibri" pitchFamily="34" charset="-122"/>
                <a:cs typeface="Calibri" pitchFamily="34" charset="-120"/>
              </a:rPr>
              <a:t>Prepared by [Your Name]  |  Data Analytics Team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C9974B"/>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548640" y="594360"/>
            <a:ext cx="109728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We Analyzed &amp; Why</a:t>
            </a:r>
            <a:endParaRPr lang="en-US" sz="3000" dirty="0"/>
          </a:p>
        </p:txBody>
      </p:sp>
      <p:sp>
        <p:nvSpPr>
          <p:cNvPr id="4" name="Text 2"/>
          <p:cNvSpPr txBox="1"/>
          <p:nvPr/>
        </p:nvSpPr>
        <p:spPr>
          <a:xfrm>
            <a:off x="548640" y="1554480"/>
            <a:ext cx="6126480" cy="1371600"/>
          </a:xfrm>
          <a:prstGeom prst="rect">
            <a:avLst/>
          </a:prstGeom>
          <a:noFill/>
          <a:ln/>
        </p:spPr>
        <p:txBody>
          <a:bodyPr wrap="square" lIns="0" tIns="0" rIns="0" bIns="0" rtlCol="0" anchor="ctr"/>
          <a:lstStyle/>
          <a:p>
            <a:pPr indent="0" marL="0">
              <a:lnSpc>
                <a:spcPct val="125000"/>
              </a:lnSpc>
              <a:buNone/>
            </a:pPr>
            <a:r>
              <a:rPr lang="en-US" sz="1400" dirty="0">
                <a:solidFill>
                  <a:srgbClr val="1F2937"/>
                </a:solidFill>
                <a:latin typeface="Calibri" pitchFamily="34" charset="0"/>
                <a:ea typeface="Calibri" pitchFamily="34" charset="-122"/>
                <a:cs typeface="Calibri" pitchFamily="34" charset="-120"/>
              </a:rPr>
              <a:t>The firm collected residential property listings across Gurgaon to guide clients on where and what to buy. This analysis answers 10 core business questions using exploratory data analysis (EDA) on the full listings dataset.</a:t>
            </a:r>
            <a:endParaRPr lang="en-US" sz="1400" dirty="0"/>
          </a:p>
        </p:txBody>
      </p:sp>
      <p:sp>
        <p:nvSpPr>
          <p:cNvPr id="5" name="Shape 3"/>
          <p:cNvSpPr/>
          <p:nvPr/>
        </p:nvSpPr>
        <p:spPr>
          <a:xfrm>
            <a:off x="548640" y="3163824"/>
            <a:ext cx="109728" cy="109728"/>
          </a:xfrm>
          <a:prstGeom prst="ellipse">
            <a:avLst/>
          </a:prstGeom>
          <a:solidFill>
            <a:srgbClr val="C9974B"/>
          </a:solidFill>
          <a:ln/>
        </p:spPr>
      </p:sp>
      <p:sp>
        <p:nvSpPr>
          <p:cNvPr id="6" name="Text 4"/>
          <p:cNvSpPr txBox="1"/>
          <p:nvPr/>
        </p:nvSpPr>
        <p:spPr>
          <a:xfrm>
            <a:off x="822960" y="3035808"/>
            <a:ext cx="5852160" cy="3657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Costliest property &amp; premium localities</a:t>
            </a:r>
            <a:endParaRPr lang="en-US" sz="1300" dirty="0"/>
          </a:p>
        </p:txBody>
      </p:sp>
      <p:sp>
        <p:nvSpPr>
          <p:cNvPr id="7" name="Shape 5"/>
          <p:cNvSpPr/>
          <p:nvPr/>
        </p:nvSpPr>
        <p:spPr>
          <a:xfrm>
            <a:off x="548640" y="3621024"/>
            <a:ext cx="109728" cy="109728"/>
          </a:xfrm>
          <a:prstGeom prst="ellipse">
            <a:avLst/>
          </a:prstGeom>
          <a:solidFill>
            <a:srgbClr val="C9974B"/>
          </a:solidFill>
          <a:ln/>
        </p:spPr>
      </p:sp>
      <p:sp>
        <p:nvSpPr>
          <p:cNvPr id="8" name="Text 6"/>
          <p:cNvSpPr txBox="1"/>
          <p:nvPr/>
        </p:nvSpPr>
        <p:spPr>
          <a:xfrm>
            <a:off x="822960" y="3493008"/>
            <a:ext cx="5852160" cy="3657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Ready-to-move vs. under-construction pricing</a:t>
            </a:r>
            <a:endParaRPr lang="en-US" sz="1300" dirty="0"/>
          </a:p>
        </p:txBody>
      </p:sp>
      <p:sp>
        <p:nvSpPr>
          <p:cNvPr id="9" name="Shape 7"/>
          <p:cNvSpPr/>
          <p:nvPr/>
        </p:nvSpPr>
        <p:spPr>
          <a:xfrm>
            <a:off x="548640" y="4078224"/>
            <a:ext cx="109728" cy="109728"/>
          </a:xfrm>
          <a:prstGeom prst="ellipse">
            <a:avLst/>
          </a:prstGeom>
          <a:solidFill>
            <a:srgbClr val="C9974B"/>
          </a:solidFill>
          <a:ln/>
        </p:spPr>
      </p:sp>
      <p:sp>
        <p:nvSpPr>
          <p:cNvPr id="10" name="Text 8"/>
          <p:cNvSpPr txBox="1"/>
          <p:nvPr/>
        </p:nvSpPr>
        <p:spPr>
          <a:xfrm>
            <a:off x="822960" y="3950208"/>
            <a:ext cx="5852160" cy="3657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RERA approval price premium</a:t>
            </a:r>
            <a:endParaRPr lang="en-US" sz="1300" dirty="0"/>
          </a:p>
        </p:txBody>
      </p:sp>
      <p:sp>
        <p:nvSpPr>
          <p:cNvPr id="11" name="Shape 9"/>
          <p:cNvSpPr/>
          <p:nvPr/>
        </p:nvSpPr>
        <p:spPr>
          <a:xfrm>
            <a:off x="548640" y="4535424"/>
            <a:ext cx="109728" cy="109728"/>
          </a:xfrm>
          <a:prstGeom prst="ellipse">
            <a:avLst/>
          </a:prstGeom>
          <a:solidFill>
            <a:srgbClr val="C9974B"/>
          </a:solidFill>
          <a:ln/>
        </p:spPr>
      </p:sp>
      <p:sp>
        <p:nvSpPr>
          <p:cNvPr id="12" name="Text 10"/>
          <p:cNvSpPr txBox="1"/>
          <p:nvPr/>
        </p:nvSpPr>
        <p:spPr>
          <a:xfrm>
            <a:off x="822960" y="4407408"/>
            <a:ext cx="5852160" cy="3657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Area, BHK, and property-type effects on price</a:t>
            </a:r>
            <a:endParaRPr lang="en-US" sz="1300" dirty="0"/>
          </a:p>
        </p:txBody>
      </p:sp>
      <p:sp>
        <p:nvSpPr>
          <p:cNvPr id="13" name="Shape 11"/>
          <p:cNvSpPr/>
          <p:nvPr/>
        </p:nvSpPr>
        <p:spPr>
          <a:xfrm>
            <a:off x="548640" y="4992624"/>
            <a:ext cx="109728" cy="109728"/>
          </a:xfrm>
          <a:prstGeom prst="ellipse">
            <a:avLst/>
          </a:prstGeom>
          <a:solidFill>
            <a:srgbClr val="C9974B"/>
          </a:solidFill>
          <a:ln/>
        </p:spPr>
      </p:sp>
      <p:sp>
        <p:nvSpPr>
          <p:cNvPr id="14" name="Text 12"/>
          <p:cNvSpPr txBox="1"/>
          <p:nvPr/>
        </p:nvSpPr>
        <p:spPr>
          <a:xfrm>
            <a:off x="822960" y="4864608"/>
            <a:ext cx="5852160" cy="3657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Builder / brand influence on pricing</a:t>
            </a:r>
            <a:endParaRPr lang="en-US" sz="1300" dirty="0"/>
          </a:p>
        </p:txBody>
      </p:sp>
      <p:sp>
        <p:nvSpPr>
          <p:cNvPr id="15" name="Shape 13"/>
          <p:cNvSpPr/>
          <p:nvPr/>
        </p:nvSpPr>
        <p:spPr>
          <a:xfrm>
            <a:off x="7040880" y="1554480"/>
            <a:ext cx="4572000" cy="4206240"/>
          </a:xfrm>
          <a:prstGeom prst="roundRect">
            <a:avLst>
              <a:gd name="adj" fmla="val 1739"/>
            </a:avLst>
          </a:prstGeom>
          <a:solidFill>
            <a:srgbClr val="1E2761"/>
          </a:solidFill>
          <a:ln/>
        </p:spPr>
      </p:sp>
      <p:sp>
        <p:nvSpPr>
          <p:cNvPr id="16" name="Text 14"/>
          <p:cNvSpPr txBox="1"/>
          <p:nvPr/>
        </p:nvSpPr>
        <p:spPr>
          <a:xfrm>
            <a:off x="7406640" y="1828800"/>
            <a:ext cx="3840480" cy="320040"/>
          </a:xfrm>
          <a:prstGeom prst="rect">
            <a:avLst/>
          </a:prstGeom>
          <a:noFill/>
          <a:ln/>
        </p:spPr>
        <p:txBody>
          <a:bodyPr wrap="square" lIns="0" tIns="0" rIns="0" bIns="0" rtlCol="0" anchor="ctr"/>
          <a:lstStyle/>
          <a:p>
            <a:pPr indent="0" marL="0">
              <a:buNone/>
            </a:pPr>
            <a:r>
              <a:rPr lang="en-US" sz="1200" b="1" spc="200" kern="0" dirty="0">
                <a:solidFill>
                  <a:srgbClr val="C9974B"/>
                </a:solidFill>
                <a:latin typeface="Calibri" pitchFamily="34" charset="0"/>
                <a:ea typeface="Calibri" pitchFamily="34" charset="-122"/>
                <a:cs typeface="Calibri" pitchFamily="34" charset="-120"/>
              </a:rPr>
              <a:t>THE DATASET</a:t>
            </a:r>
            <a:endParaRPr lang="en-US" sz="1200" dirty="0"/>
          </a:p>
        </p:txBody>
      </p:sp>
      <p:sp>
        <p:nvSpPr>
          <p:cNvPr id="17" name="Text 15"/>
          <p:cNvSpPr txBox="1"/>
          <p:nvPr/>
        </p:nvSpPr>
        <p:spPr>
          <a:xfrm>
            <a:off x="7406640" y="2148840"/>
            <a:ext cx="3840480" cy="7315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19,515</a:t>
            </a:r>
            <a:endParaRPr lang="en-US" sz="4400" dirty="0"/>
          </a:p>
        </p:txBody>
      </p:sp>
      <p:sp>
        <p:nvSpPr>
          <p:cNvPr id="18" name="Text 16"/>
          <p:cNvSpPr txBox="1"/>
          <p:nvPr/>
        </p:nvSpPr>
        <p:spPr>
          <a:xfrm>
            <a:off x="7406640" y="2788920"/>
            <a:ext cx="3840480" cy="45720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residential listings across Gurgaon sectors</a:t>
            </a:r>
            <a:endParaRPr lang="en-US" sz="1300" dirty="0"/>
          </a:p>
        </p:txBody>
      </p:sp>
      <p:sp>
        <p:nvSpPr>
          <p:cNvPr id="19" name="Text 17"/>
          <p:cNvSpPr txBox="1"/>
          <p:nvPr/>
        </p:nvSpPr>
        <p:spPr>
          <a:xfrm>
            <a:off x="7406640" y="3520440"/>
            <a:ext cx="393192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  Price &amp; rate per sqft</a:t>
            </a:r>
            <a:endParaRPr lang="en-US" sz="1250" dirty="0"/>
          </a:p>
        </p:txBody>
      </p:sp>
      <p:sp>
        <p:nvSpPr>
          <p:cNvPr id="20" name="Text 18"/>
          <p:cNvSpPr txBox="1"/>
          <p:nvPr/>
        </p:nvSpPr>
        <p:spPr>
          <a:xfrm>
            <a:off x="7406640" y="3858768"/>
            <a:ext cx="393192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  Area &amp; BHK configuration</a:t>
            </a:r>
            <a:endParaRPr lang="en-US" sz="1250" dirty="0"/>
          </a:p>
        </p:txBody>
      </p:sp>
      <p:sp>
        <p:nvSpPr>
          <p:cNvPr id="21" name="Text 19"/>
          <p:cNvSpPr txBox="1"/>
          <p:nvPr/>
        </p:nvSpPr>
        <p:spPr>
          <a:xfrm>
            <a:off x="7406640" y="4197096"/>
            <a:ext cx="393192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  Locality &amp; society</a:t>
            </a:r>
            <a:endParaRPr lang="en-US" sz="1250" dirty="0"/>
          </a:p>
        </p:txBody>
      </p:sp>
      <p:sp>
        <p:nvSpPr>
          <p:cNvPr id="22" name="Text 20"/>
          <p:cNvSpPr txBox="1"/>
          <p:nvPr/>
        </p:nvSpPr>
        <p:spPr>
          <a:xfrm>
            <a:off x="7406640" y="4535424"/>
            <a:ext cx="393192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  Builder / company name</a:t>
            </a:r>
            <a:endParaRPr lang="en-US" sz="1250" dirty="0"/>
          </a:p>
        </p:txBody>
      </p:sp>
      <p:sp>
        <p:nvSpPr>
          <p:cNvPr id="23" name="Text 21"/>
          <p:cNvSpPr txBox="1"/>
          <p:nvPr/>
        </p:nvSpPr>
        <p:spPr>
          <a:xfrm>
            <a:off x="7406640" y="4873752"/>
            <a:ext cx="393192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  RERA approval status</a:t>
            </a:r>
            <a:endParaRPr lang="en-US" sz="1250" dirty="0"/>
          </a:p>
        </p:txBody>
      </p:sp>
      <p:sp>
        <p:nvSpPr>
          <p:cNvPr id="24" name="Text 22"/>
          <p:cNvSpPr txBox="1"/>
          <p:nvPr/>
        </p:nvSpPr>
        <p:spPr>
          <a:xfrm>
            <a:off x="7406640" y="5212080"/>
            <a:ext cx="393192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  Listing status (New / Resale / etc.)</a:t>
            </a:r>
            <a:endParaRPr lang="en-US" sz="1250" dirty="0"/>
          </a:p>
        </p:txBody>
      </p:sp>
      <p:sp>
        <p:nvSpPr>
          <p:cNvPr id="25" name="Text 23"/>
          <p:cNvSpPr txBox="1"/>
          <p:nvPr/>
        </p:nvSpPr>
        <p:spPr>
          <a:xfrm>
            <a:off x="7406640" y="5440680"/>
            <a:ext cx="3931920" cy="274320"/>
          </a:xfrm>
          <a:prstGeom prst="rect">
            <a:avLst/>
          </a:prstGeom>
          <a:noFill/>
          <a:ln/>
        </p:spPr>
        <p:txBody>
          <a:bodyPr wrap="square" lIns="0" tIns="0" rIns="0" bIns="0" rtlCol="0" anchor="ctr"/>
          <a:lstStyle/>
          <a:p>
            <a:pPr indent="0" marL="0">
              <a:buNone/>
            </a:pPr>
            <a:r>
              <a:rPr lang="en-US" sz="1000" i="1" dirty="0">
                <a:solidFill>
                  <a:srgbClr val="5A6B87"/>
                </a:solidFill>
                <a:latin typeface="Calibri" pitchFamily="34" charset="0"/>
                <a:ea typeface="Calibri" pitchFamily="34" charset="-122"/>
                <a:cs typeface="Calibri" pitchFamily="34" charset="-120"/>
              </a:rPr>
              <a:t>Source: Kaggle — Gurgaon Real Estate Dataset</a:t>
            </a:r>
            <a:endParaRPr lang="en-US" sz="1000" dirty="0"/>
          </a:p>
        </p:txBody>
      </p:sp>
      <p:sp>
        <p:nvSpPr>
          <p:cNvPr id="26" name="Text 24"/>
          <p:cNvSpPr txBox="1"/>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A6B87"/>
                </a:solidFill>
                <a:latin typeface="Calibri" pitchFamily="34" charset="0"/>
                <a:ea typeface="Calibri" pitchFamily="34" charset="-122"/>
                <a:cs typeface="Calibri" pitchFamily="34" charset="-120"/>
              </a:rPr>
              <a:t>Gurgaon Real Estate Market Analysis</a:t>
            </a:r>
            <a:endParaRPr lang="en-US" sz="900" dirty="0"/>
          </a:p>
        </p:txBody>
      </p:sp>
      <p:sp>
        <p:nvSpPr>
          <p:cNvPr id="27" name="Text 25"/>
          <p:cNvSpPr txBox="1"/>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A6B8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C9974B"/>
                </a:solidFill>
                <a:latin typeface="Calibri" pitchFamily="34" charset="0"/>
                <a:ea typeface="Calibri" pitchFamily="34" charset="-122"/>
                <a:cs typeface="Calibri" pitchFamily="34" charset="-120"/>
              </a:rPr>
              <a:t>QUESTION 1</a:t>
            </a:r>
            <a:endParaRPr lang="en-US" sz="1200" dirty="0"/>
          </a:p>
        </p:txBody>
      </p:sp>
      <p:sp>
        <p:nvSpPr>
          <p:cNvPr id="3" name="Text 1"/>
          <p:cNvSpPr txBox="1"/>
          <p:nvPr/>
        </p:nvSpPr>
        <p:spPr>
          <a:xfrm>
            <a:off x="548640" y="594360"/>
            <a:ext cx="109728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Costliest Listing in Gurgaon</a:t>
            </a:r>
            <a:endParaRPr lang="en-US" sz="3000" dirty="0"/>
          </a:p>
        </p:txBody>
      </p:sp>
      <p:sp>
        <p:nvSpPr>
          <p:cNvPr id="4" name="Shape 2"/>
          <p:cNvSpPr/>
          <p:nvPr/>
        </p:nvSpPr>
        <p:spPr>
          <a:xfrm>
            <a:off x="548640" y="1645920"/>
            <a:ext cx="3931920" cy="4206240"/>
          </a:xfrm>
          <a:prstGeom prst="roundRect">
            <a:avLst>
              <a:gd name="adj" fmla="val 1860"/>
            </a:avLst>
          </a:prstGeom>
          <a:solidFill>
            <a:srgbClr val="1E2761"/>
          </a:solidFill>
          <a:ln/>
        </p:spPr>
      </p:sp>
      <p:sp>
        <p:nvSpPr>
          <p:cNvPr id="5" name="Text 3"/>
          <p:cNvSpPr txBox="1"/>
          <p:nvPr/>
        </p:nvSpPr>
        <p:spPr>
          <a:xfrm>
            <a:off x="822960" y="2377440"/>
            <a:ext cx="338328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₹122.63</a:t>
            </a:r>
            <a:endParaRPr lang="en-US" sz="5200" dirty="0"/>
          </a:p>
        </p:txBody>
      </p:sp>
      <p:sp>
        <p:nvSpPr>
          <p:cNvPr id="6" name="Text 4"/>
          <p:cNvSpPr txBox="1"/>
          <p:nvPr/>
        </p:nvSpPr>
        <p:spPr>
          <a:xfrm>
            <a:off x="822960" y="3246120"/>
            <a:ext cx="3383280" cy="365760"/>
          </a:xfrm>
          <a:prstGeom prst="rect">
            <a:avLst/>
          </a:prstGeom>
          <a:noFill/>
          <a:ln/>
        </p:spPr>
        <p:txBody>
          <a:bodyPr wrap="square" lIns="0" tIns="0" rIns="0" bIns="0" rtlCol="0" anchor="ctr"/>
          <a:lstStyle/>
          <a:p>
            <a:pPr indent="0" marL="0">
              <a:buNone/>
            </a:pPr>
            <a:r>
              <a:rPr lang="en-US" sz="1600" b="1" spc="300" kern="0" dirty="0">
                <a:solidFill>
                  <a:srgbClr val="C9974B"/>
                </a:solidFill>
                <a:latin typeface="Calibri" pitchFamily="34" charset="0"/>
                <a:ea typeface="Calibri" pitchFamily="34" charset="-122"/>
                <a:cs typeface="Calibri" pitchFamily="34" charset="-120"/>
              </a:rPr>
              <a:t>CRORE</a:t>
            </a:r>
            <a:endParaRPr lang="en-US" sz="1600" dirty="0"/>
          </a:p>
        </p:txBody>
      </p:sp>
      <p:sp>
        <p:nvSpPr>
          <p:cNvPr id="7" name="Text 5"/>
          <p:cNvSpPr txBox="1"/>
          <p:nvPr/>
        </p:nvSpPr>
        <p:spPr>
          <a:xfrm>
            <a:off x="822960" y="3886200"/>
            <a:ext cx="3383280" cy="64008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Highest listed price in the dataset</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(₹1,226,300,000)</a:t>
            </a:r>
            <a:endParaRPr lang="en-US" sz="1200" dirty="0"/>
          </a:p>
        </p:txBody>
      </p:sp>
      <p:sp>
        <p:nvSpPr>
          <p:cNvPr id="8" name="Text 6"/>
          <p:cNvSpPr txBox="1"/>
          <p:nvPr/>
        </p:nvSpPr>
        <p:spPr>
          <a:xfrm>
            <a:off x="4846320" y="1691640"/>
            <a:ext cx="1828800" cy="411480"/>
          </a:xfrm>
          <a:prstGeom prst="rect">
            <a:avLst/>
          </a:prstGeom>
          <a:noFill/>
          <a:ln/>
        </p:spPr>
        <p:txBody>
          <a:bodyPr wrap="square" lIns="0" tIns="0" rIns="0" bIns="0" rtlCol="0" anchor="ctr"/>
          <a:lstStyle/>
          <a:p>
            <a:pPr indent="0" marL="0">
              <a:buNone/>
            </a:pPr>
            <a:r>
              <a:rPr lang="en-US" sz="1100" b="1" spc="100" kern="0" dirty="0">
                <a:solidFill>
                  <a:srgbClr val="5A6B87"/>
                </a:solidFill>
                <a:latin typeface="Calibri" pitchFamily="34" charset="0"/>
                <a:ea typeface="Calibri" pitchFamily="34" charset="-122"/>
                <a:cs typeface="Calibri" pitchFamily="34" charset="-120"/>
              </a:rPr>
              <a:t>TYPE</a:t>
            </a:r>
            <a:endParaRPr lang="en-US" sz="1100" dirty="0"/>
          </a:p>
        </p:txBody>
      </p:sp>
      <p:sp>
        <p:nvSpPr>
          <p:cNvPr id="9" name="Text 7"/>
          <p:cNvSpPr txBox="1"/>
          <p:nvPr/>
        </p:nvSpPr>
        <p:spPr>
          <a:xfrm>
            <a:off x="6675120" y="1691640"/>
            <a:ext cx="4846320" cy="4114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6 BHK Apartment</a:t>
            </a:r>
            <a:endParaRPr lang="en-US" sz="1400" dirty="0"/>
          </a:p>
        </p:txBody>
      </p:sp>
      <p:sp>
        <p:nvSpPr>
          <p:cNvPr id="10" name="Shape 8"/>
          <p:cNvSpPr/>
          <p:nvPr/>
        </p:nvSpPr>
        <p:spPr>
          <a:xfrm>
            <a:off x="4846320" y="2112264"/>
            <a:ext cx="6675120" cy="0"/>
          </a:xfrm>
          <a:prstGeom prst="line">
            <a:avLst/>
          </a:prstGeom>
          <a:noFill/>
          <a:ln w="12700">
            <a:solidFill>
              <a:srgbClr val="E3E7F0"/>
            </a:solidFill>
            <a:prstDash val="solid"/>
          </a:ln>
        </p:spPr>
      </p:sp>
      <p:sp>
        <p:nvSpPr>
          <p:cNvPr id="11" name="Text 9"/>
          <p:cNvSpPr txBox="1"/>
          <p:nvPr/>
        </p:nvSpPr>
        <p:spPr>
          <a:xfrm>
            <a:off x="4846320" y="2194560"/>
            <a:ext cx="1828800" cy="411480"/>
          </a:xfrm>
          <a:prstGeom prst="rect">
            <a:avLst/>
          </a:prstGeom>
          <a:noFill/>
          <a:ln/>
        </p:spPr>
        <p:txBody>
          <a:bodyPr wrap="square" lIns="0" tIns="0" rIns="0" bIns="0" rtlCol="0" anchor="ctr"/>
          <a:lstStyle/>
          <a:p>
            <a:pPr indent="0" marL="0">
              <a:buNone/>
            </a:pPr>
            <a:r>
              <a:rPr lang="en-US" sz="1100" b="1" spc="100" kern="0" dirty="0">
                <a:solidFill>
                  <a:srgbClr val="5A6B87"/>
                </a:solidFill>
                <a:latin typeface="Calibri" pitchFamily="34" charset="0"/>
                <a:ea typeface="Calibri" pitchFamily="34" charset="-122"/>
                <a:cs typeface="Calibri" pitchFamily="34" charset="-120"/>
              </a:rPr>
              <a:t>SOCIETY</a:t>
            </a:r>
            <a:endParaRPr lang="en-US" sz="1100" dirty="0"/>
          </a:p>
        </p:txBody>
      </p:sp>
      <p:sp>
        <p:nvSpPr>
          <p:cNvPr id="12" name="Text 10"/>
          <p:cNvSpPr txBox="1"/>
          <p:nvPr/>
        </p:nvSpPr>
        <p:spPr>
          <a:xfrm>
            <a:off x="6675120" y="2194560"/>
            <a:ext cx="4846320" cy="4114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DLF Camellias</a:t>
            </a:r>
            <a:endParaRPr lang="en-US" sz="1400" dirty="0"/>
          </a:p>
        </p:txBody>
      </p:sp>
      <p:sp>
        <p:nvSpPr>
          <p:cNvPr id="13" name="Shape 11"/>
          <p:cNvSpPr/>
          <p:nvPr/>
        </p:nvSpPr>
        <p:spPr>
          <a:xfrm>
            <a:off x="4846320" y="2615184"/>
            <a:ext cx="6675120" cy="0"/>
          </a:xfrm>
          <a:prstGeom prst="line">
            <a:avLst/>
          </a:prstGeom>
          <a:noFill/>
          <a:ln w="12700">
            <a:solidFill>
              <a:srgbClr val="E3E7F0"/>
            </a:solidFill>
            <a:prstDash val="solid"/>
          </a:ln>
        </p:spPr>
      </p:sp>
      <p:sp>
        <p:nvSpPr>
          <p:cNvPr id="14" name="Text 12"/>
          <p:cNvSpPr txBox="1"/>
          <p:nvPr/>
        </p:nvSpPr>
        <p:spPr>
          <a:xfrm>
            <a:off x="4846320" y="2697480"/>
            <a:ext cx="1828800" cy="411480"/>
          </a:xfrm>
          <a:prstGeom prst="rect">
            <a:avLst/>
          </a:prstGeom>
          <a:noFill/>
          <a:ln/>
        </p:spPr>
        <p:txBody>
          <a:bodyPr wrap="square" lIns="0" tIns="0" rIns="0" bIns="0" rtlCol="0" anchor="ctr"/>
          <a:lstStyle/>
          <a:p>
            <a:pPr indent="0" marL="0">
              <a:buNone/>
            </a:pPr>
            <a:r>
              <a:rPr lang="en-US" sz="1100" b="1" spc="100" kern="0" dirty="0">
                <a:solidFill>
                  <a:srgbClr val="5A6B87"/>
                </a:solidFill>
                <a:latin typeface="Calibri" pitchFamily="34" charset="0"/>
                <a:ea typeface="Calibri" pitchFamily="34" charset="-122"/>
                <a:cs typeface="Calibri" pitchFamily="34" charset="-120"/>
              </a:rPr>
              <a:t>LOCALITY</a:t>
            </a:r>
            <a:endParaRPr lang="en-US" sz="1100" dirty="0"/>
          </a:p>
        </p:txBody>
      </p:sp>
      <p:sp>
        <p:nvSpPr>
          <p:cNvPr id="15" name="Text 13"/>
          <p:cNvSpPr txBox="1"/>
          <p:nvPr/>
        </p:nvSpPr>
        <p:spPr>
          <a:xfrm>
            <a:off x="6675120" y="2697480"/>
            <a:ext cx="4846320" cy="4114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Sector 42, Gurgaon</a:t>
            </a:r>
            <a:endParaRPr lang="en-US" sz="1400" dirty="0"/>
          </a:p>
        </p:txBody>
      </p:sp>
      <p:sp>
        <p:nvSpPr>
          <p:cNvPr id="16" name="Shape 14"/>
          <p:cNvSpPr/>
          <p:nvPr/>
        </p:nvSpPr>
        <p:spPr>
          <a:xfrm>
            <a:off x="4846320" y="3118104"/>
            <a:ext cx="6675120" cy="0"/>
          </a:xfrm>
          <a:prstGeom prst="line">
            <a:avLst/>
          </a:prstGeom>
          <a:noFill/>
          <a:ln w="12700">
            <a:solidFill>
              <a:srgbClr val="E3E7F0"/>
            </a:solidFill>
            <a:prstDash val="solid"/>
          </a:ln>
        </p:spPr>
      </p:sp>
      <p:sp>
        <p:nvSpPr>
          <p:cNvPr id="17" name="Text 15"/>
          <p:cNvSpPr txBox="1"/>
          <p:nvPr/>
        </p:nvSpPr>
        <p:spPr>
          <a:xfrm>
            <a:off x="4846320" y="3200400"/>
            <a:ext cx="1828800" cy="411480"/>
          </a:xfrm>
          <a:prstGeom prst="rect">
            <a:avLst/>
          </a:prstGeom>
          <a:noFill/>
          <a:ln/>
        </p:spPr>
        <p:txBody>
          <a:bodyPr wrap="square" lIns="0" tIns="0" rIns="0" bIns="0" rtlCol="0" anchor="ctr"/>
          <a:lstStyle/>
          <a:p>
            <a:pPr indent="0" marL="0">
              <a:buNone/>
            </a:pPr>
            <a:r>
              <a:rPr lang="en-US" sz="1100" b="1" spc="100" kern="0" dirty="0">
                <a:solidFill>
                  <a:srgbClr val="5A6B87"/>
                </a:solidFill>
                <a:latin typeface="Calibri" pitchFamily="34" charset="0"/>
                <a:ea typeface="Calibri" pitchFamily="34" charset="-122"/>
                <a:cs typeface="Calibri" pitchFamily="34" charset="-120"/>
              </a:rPr>
              <a:t>AREA</a:t>
            </a:r>
            <a:endParaRPr lang="en-US" sz="1100" dirty="0"/>
          </a:p>
        </p:txBody>
      </p:sp>
      <p:sp>
        <p:nvSpPr>
          <p:cNvPr id="18" name="Text 16"/>
          <p:cNvSpPr txBox="1"/>
          <p:nvPr/>
        </p:nvSpPr>
        <p:spPr>
          <a:xfrm>
            <a:off x="6675120" y="3200400"/>
            <a:ext cx="4846320" cy="4114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16,500 sqft</a:t>
            </a:r>
            <a:endParaRPr lang="en-US" sz="1400" dirty="0"/>
          </a:p>
        </p:txBody>
      </p:sp>
      <p:sp>
        <p:nvSpPr>
          <p:cNvPr id="19" name="Shape 17"/>
          <p:cNvSpPr/>
          <p:nvPr/>
        </p:nvSpPr>
        <p:spPr>
          <a:xfrm>
            <a:off x="4846320" y="3621024"/>
            <a:ext cx="6675120" cy="0"/>
          </a:xfrm>
          <a:prstGeom prst="line">
            <a:avLst/>
          </a:prstGeom>
          <a:noFill/>
          <a:ln w="12700">
            <a:solidFill>
              <a:srgbClr val="E3E7F0"/>
            </a:solidFill>
            <a:prstDash val="solid"/>
          </a:ln>
        </p:spPr>
      </p:sp>
      <p:sp>
        <p:nvSpPr>
          <p:cNvPr id="20" name="Text 18"/>
          <p:cNvSpPr txBox="1"/>
          <p:nvPr/>
        </p:nvSpPr>
        <p:spPr>
          <a:xfrm>
            <a:off x="4846320" y="3703320"/>
            <a:ext cx="1828800" cy="411480"/>
          </a:xfrm>
          <a:prstGeom prst="rect">
            <a:avLst/>
          </a:prstGeom>
          <a:noFill/>
          <a:ln/>
        </p:spPr>
        <p:txBody>
          <a:bodyPr wrap="square" lIns="0" tIns="0" rIns="0" bIns="0" rtlCol="0" anchor="ctr"/>
          <a:lstStyle/>
          <a:p>
            <a:pPr indent="0" marL="0">
              <a:buNone/>
            </a:pPr>
            <a:r>
              <a:rPr lang="en-US" sz="1100" b="1" spc="100" kern="0" dirty="0">
                <a:solidFill>
                  <a:srgbClr val="5A6B87"/>
                </a:solidFill>
                <a:latin typeface="Calibri" pitchFamily="34" charset="0"/>
                <a:ea typeface="Calibri" pitchFamily="34" charset="-122"/>
                <a:cs typeface="Calibri" pitchFamily="34" charset="-120"/>
              </a:rPr>
              <a:t>RATE</a:t>
            </a:r>
            <a:endParaRPr lang="en-US" sz="1100" dirty="0"/>
          </a:p>
        </p:txBody>
      </p:sp>
      <p:sp>
        <p:nvSpPr>
          <p:cNvPr id="21" name="Text 19"/>
          <p:cNvSpPr txBox="1"/>
          <p:nvPr/>
        </p:nvSpPr>
        <p:spPr>
          <a:xfrm>
            <a:off x="6675120" y="3703320"/>
            <a:ext cx="4846320" cy="4114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₹74,323 / sqft</a:t>
            </a:r>
            <a:endParaRPr lang="en-US" sz="1400" dirty="0"/>
          </a:p>
        </p:txBody>
      </p:sp>
      <p:sp>
        <p:nvSpPr>
          <p:cNvPr id="22" name="Shape 20"/>
          <p:cNvSpPr/>
          <p:nvPr/>
        </p:nvSpPr>
        <p:spPr>
          <a:xfrm>
            <a:off x="4846320" y="4123944"/>
            <a:ext cx="6675120" cy="0"/>
          </a:xfrm>
          <a:prstGeom prst="line">
            <a:avLst/>
          </a:prstGeom>
          <a:noFill/>
          <a:ln w="12700">
            <a:solidFill>
              <a:srgbClr val="E3E7F0"/>
            </a:solidFill>
            <a:prstDash val="solid"/>
          </a:ln>
        </p:spPr>
      </p:sp>
      <p:sp>
        <p:nvSpPr>
          <p:cNvPr id="23" name="Text 21"/>
          <p:cNvSpPr txBox="1"/>
          <p:nvPr/>
        </p:nvSpPr>
        <p:spPr>
          <a:xfrm>
            <a:off x="4846320" y="4206240"/>
            <a:ext cx="1828800" cy="411480"/>
          </a:xfrm>
          <a:prstGeom prst="rect">
            <a:avLst/>
          </a:prstGeom>
          <a:noFill/>
          <a:ln/>
        </p:spPr>
        <p:txBody>
          <a:bodyPr wrap="square" lIns="0" tIns="0" rIns="0" bIns="0" rtlCol="0" anchor="ctr"/>
          <a:lstStyle/>
          <a:p>
            <a:pPr indent="0" marL="0">
              <a:buNone/>
            </a:pPr>
            <a:r>
              <a:rPr lang="en-US" sz="1100" b="1" spc="100" kern="0" dirty="0">
                <a:solidFill>
                  <a:srgbClr val="5A6B87"/>
                </a:solidFill>
                <a:latin typeface="Calibri" pitchFamily="34" charset="0"/>
                <a:ea typeface="Calibri" pitchFamily="34" charset="-122"/>
                <a:cs typeface="Calibri" pitchFamily="34" charset="-120"/>
              </a:rPr>
              <a:t>BUILDER</a:t>
            </a:r>
            <a:endParaRPr lang="en-US" sz="1100" dirty="0"/>
          </a:p>
        </p:txBody>
      </p:sp>
      <p:sp>
        <p:nvSpPr>
          <p:cNvPr id="24" name="Text 22"/>
          <p:cNvSpPr txBox="1"/>
          <p:nvPr/>
        </p:nvSpPr>
        <p:spPr>
          <a:xfrm>
            <a:off x="6675120" y="4206240"/>
            <a:ext cx="4846320" cy="4114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Provident Capital</a:t>
            </a:r>
            <a:endParaRPr lang="en-US" sz="1400" dirty="0"/>
          </a:p>
        </p:txBody>
      </p:sp>
      <p:sp>
        <p:nvSpPr>
          <p:cNvPr id="25" name="Shape 23"/>
          <p:cNvSpPr/>
          <p:nvPr/>
        </p:nvSpPr>
        <p:spPr>
          <a:xfrm>
            <a:off x="4846320" y="4626864"/>
            <a:ext cx="6675120" cy="0"/>
          </a:xfrm>
          <a:prstGeom prst="line">
            <a:avLst/>
          </a:prstGeom>
          <a:noFill/>
          <a:ln w="12700">
            <a:solidFill>
              <a:srgbClr val="E3E7F0"/>
            </a:solidFill>
            <a:prstDash val="solid"/>
          </a:ln>
        </p:spPr>
      </p:sp>
      <p:sp>
        <p:nvSpPr>
          <p:cNvPr id="26" name="Text 24"/>
          <p:cNvSpPr txBox="1"/>
          <p:nvPr/>
        </p:nvSpPr>
        <p:spPr>
          <a:xfrm>
            <a:off x="4846320" y="4709160"/>
            <a:ext cx="1828800" cy="411480"/>
          </a:xfrm>
          <a:prstGeom prst="rect">
            <a:avLst/>
          </a:prstGeom>
          <a:noFill/>
          <a:ln/>
        </p:spPr>
        <p:txBody>
          <a:bodyPr wrap="square" lIns="0" tIns="0" rIns="0" bIns="0" rtlCol="0" anchor="ctr"/>
          <a:lstStyle/>
          <a:p>
            <a:pPr indent="0" marL="0">
              <a:buNone/>
            </a:pPr>
            <a:r>
              <a:rPr lang="en-US" sz="1100" b="1" spc="100" kern="0" dirty="0">
                <a:solidFill>
                  <a:srgbClr val="5A6B87"/>
                </a:solidFill>
                <a:latin typeface="Calibri" pitchFamily="34" charset="0"/>
                <a:ea typeface="Calibri" pitchFamily="34" charset="-122"/>
                <a:cs typeface="Calibri" pitchFamily="34" charset="-120"/>
              </a:rPr>
              <a:t>STATUS</a:t>
            </a:r>
            <a:endParaRPr lang="en-US" sz="1100" dirty="0"/>
          </a:p>
        </p:txBody>
      </p:sp>
      <p:sp>
        <p:nvSpPr>
          <p:cNvPr id="27" name="Text 25"/>
          <p:cNvSpPr txBox="1"/>
          <p:nvPr/>
        </p:nvSpPr>
        <p:spPr>
          <a:xfrm>
            <a:off x="6675120" y="4709160"/>
            <a:ext cx="4846320" cy="4114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Ready to Move</a:t>
            </a:r>
            <a:endParaRPr lang="en-US" sz="1400" dirty="0"/>
          </a:p>
        </p:txBody>
      </p:sp>
      <p:sp>
        <p:nvSpPr>
          <p:cNvPr id="28" name="Shape 26"/>
          <p:cNvSpPr/>
          <p:nvPr/>
        </p:nvSpPr>
        <p:spPr>
          <a:xfrm>
            <a:off x="4846320" y="5129784"/>
            <a:ext cx="6675120" cy="0"/>
          </a:xfrm>
          <a:prstGeom prst="line">
            <a:avLst/>
          </a:prstGeom>
          <a:noFill/>
          <a:ln w="12700">
            <a:solidFill>
              <a:srgbClr val="E3E7F0"/>
            </a:solidFill>
            <a:prstDash val="solid"/>
          </a:ln>
        </p:spPr>
      </p:sp>
      <p:sp>
        <p:nvSpPr>
          <p:cNvPr id="29" name="Text 27"/>
          <p:cNvSpPr txBox="1"/>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A6B87"/>
                </a:solidFill>
                <a:latin typeface="Calibri" pitchFamily="34" charset="0"/>
                <a:ea typeface="Calibri" pitchFamily="34" charset="-122"/>
                <a:cs typeface="Calibri" pitchFamily="34" charset="-120"/>
              </a:rPr>
              <a:t>Gurgaon Real Estate Market Analysis</a:t>
            </a:r>
            <a:endParaRPr lang="en-US" sz="900" dirty="0"/>
          </a:p>
        </p:txBody>
      </p:sp>
      <p:sp>
        <p:nvSpPr>
          <p:cNvPr id="30" name="Text 28"/>
          <p:cNvSpPr txBox="1"/>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A6B8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C9974B"/>
                </a:solidFill>
                <a:latin typeface="Calibri" pitchFamily="34" charset="0"/>
                <a:ea typeface="Calibri" pitchFamily="34" charset="-122"/>
                <a:cs typeface="Calibri" pitchFamily="34" charset="-120"/>
              </a:rPr>
              <a:t>QUESTIONS 2 &amp; 3</a:t>
            </a:r>
            <a:endParaRPr lang="en-US" sz="1200" dirty="0"/>
          </a:p>
        </p:txBody>
      </p:sp>
      <p:sp>
        <p:nvSpPr>
          <p:cNvPr id="3" name="Text 1"/>
          <p:cNvSpPr txBox="1"/>
          <p:nvPr/>
        </p:nvSpPr>
        <p:spPr>
          <a:xfrm>
            <a:off x="548640" y="594360"/>
            <a:ext cx="109728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Where the Premium Localities Are</a:t>
            </a:r>
            <a:endParaRPr lang="en-US" sz="3000" dirty="0"/>
          </a:p>
        </p:txBody>
      </p:sp>
      <p:sp>
        <p:nvSpPr>
          <p:cNvPr id="4" name="Text 2"/>
          <p:cNvSpPr txBox="1"/>
          <p:nvPr/>
        </p:nvSpPr>
        <p:spPr>
          <a:xfrm>
            <a:off x="548640" y="1417320"/>
            <a:ext cx="530352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Average Price (₹ Crore)</a:t>
            </a:r>
            <a:endParaRPr lang="en-US" sz="1300" dirty="0"/>
          </a:p>
        </p:txBody>
      </p:sp>
      <p:graphicFrame>
        <p:nvGraphicFramePr>
          <p:cNvPr id="5" name="Chart 0" descr=""/>
          <p:cNvGraphicFramePr/>
          <p:nvPr/>
        </p:nvGraphicFramePr>
        <p:xfrm>
          <a:off x="457200" y="1783080"/>
          <a:ext cx="5486400" cy="4114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309360" y="1417320"/>
            <a:ext cx="530352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Average Rate per Sqft (₹)</a:t>
            </a:r>
            <a:endParaRPr lang="en-US" sz="1300" dirty="0"/>
          </a:p>
        </p:txBody>
      </p:sp>
      <p:graphicFrame>
        <p:nvGraphicFramePr>
          <p:cNvPr id="7" name="Chart 1" descr=""/>
          <p:cNvGraphicFramePr/>
          <p:nvPr/>
        </p:nvGraphicFramePr>
        <p:xfrm>
          <a:off x="6217920" y="1783080"/>
          <a:ext cx="5486400" cy="41148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548640" y="6035040"/>
            <a:ext cx="11064240" cy="457200"/>
          </a:xfrm>
          <a:prstGeom prst="rect">
            <a:avLst/>
          </a:prstGeom>
          <a:noFill/>
          <a:ln/>
        </p:spPr>
        <p:txBody>
          <a:bodyPr wrap="square" lIns="0" tIns="0" rIns="0" bIns="0" rtlCol="0" anchor="ctr"/>
          <a:lstStyle/>
          <a:p>
            <a:pPr indent="0" marL="0">
              <a:buNone/>
            </a:pPr>
            <a:r>
              <a:rPr lang="en-US" sz="1150" i="1" dirty="0">
                <a:solidFill>
                  <a:srgbClr val="5A6B87"/>
                </a:solidFill>
                <a:latin typeface="Calibri" pitchFamily="34" charset="0"/>
                <a:ea typeface="Calibri" pitchFamily="34" charset="-122"/>
                <a:cs typeface="Calibri" pitchFamily="34" charset="-120"/>
              </a:rPr>
              <a:t>Sector 42 tops both lists. A single Sector 46 listing hit ₹310,000/sqft — likely an outlier worth verifying before quoting to clients.</a:t>
            </a:r>
            <a:endParaRPr lang="en-US" sz="1150" dirty="0"/>
          </a:p>
        </p:txBody>
      </p:sp>
      <p:sp>
        <p:nvSpPr>
          <p:cNvPr id="9" name="Text 5"/>
          <p:cNvSpPr txBox="1"/>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A6B87"/>
                </a:solidFill>
                <a:latin typeface="Calibri" pitchFamily="34" charset="0"/>
                <a:ea typeface="Calibri" pitchFamily="34" charset="-122"/>
                <a:cs typeface="Calibri" pitchFamily="34" charset="-120"/>
              </a:rPr>
              <a:t>Gurgaon Real Estate Market Analysis</a:t>
            </a:r>
            <a:endParaRPr lang="en-US" sz="900" dirty="0"/>
          </a:p>
        </p:txBody>
      </p:sp>
      <p:sp>
        <p:nvSpPr>
          <p:cNvPr id="10" name="Text 6"/>
          <p:cNvSpPr txBox="1"/>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A6B8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C9974B"/>
                </a:solidFill>
                <a:latin typeface="Calibri" pitchFamily="34" charset="0"/>
                <a:ea typeface="Calibri" pitchFamily="34" charset="-122"/>
                <a:cs typeface="Calibri" pitchFamily="34" charset="-120"/>
              </a:rPr>
              <a:t>QUESTIONS 4 &amp; 5</a:t>
            </a:r>
            <a:endParaRPr lang="en-US" sz="1200" dirty="0"/>
          </a:p>
        </p:txBody>
      </p:sp>
      <p:sp>
        <p:nvSpPr>
          <p:cNvPr id="3" name="Text 1"/>
          <p:cNvSpPr txBox="1"/>
          <p:nvPr/>
        </p:nvSpPr>
        <p:spPr>
          <a:xfrm>
            <a:off x="548640" y="594360"/>
            <a:ext cx="109728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Listing Status and RERA Approval</a:t>
            </a:r>
            <a:endParaRPr lang="en-US" sz="3000" dirty="0"/>
          </a:p>
        </p:txBody>
      </p:sp>
      <p:sp>
        <p:nvSpPr>
          <p:cNvPr id="4" name="Text 2"/>
          <p:cNvSpPr txBox="1"/>
          <p:nvPr/>
        </p:nvSpPr>
        <p:spPr>
          <a:xfrm>
            <a:off x="548640" y="1417320"/>
            <a:ext cx="59436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Median Price by Listing Status (₹ Crore)</a:t>
            </a:r>
            <a:endParaRPr lang="en-US" sz="1300" dirty="0"/>
          </a:p>
        </p:txBody>
      </p:sp>
      <p:graphicFrame>
        <p:nvGraphicFramePr>
          <p:cNvPr id="5" name="Chart 0" descr=""/>
          <p:cNvGraphicFramePr/>
          <p:nvPr/>
        </p:nvGraphicFramePr>
        <p:xfrm>
          <a:off x="457200" y="1783080"/>
          <a:ext cx="6492240"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269480" y="1783080"/>
            <a:ext cx="4389120" cy="3931920"/>
          </a:xfrm>
          <a:prstGeom prst="roundRect">
            <a:avLst>
              <a:gd name="adj" fmla="val 1860"/>
            </a:avLst>
          </a:prstGeom>
          <a:solidFill>
            <a:srgbClr val="1E2761"/>
          </a:solidFill>
          <a:ln/>
        </p:spPr>
      </p:sp>
      <p:sp>
        <p:nvSpPr>
          <p:cNvPr id="7" name="Text 4"/>
          <p:cNvSpPr txBox="1"/>
          <p:nvPr/>
        </p:nvSpPr>
        <p:spPr>
          <a:xfrm>
            <a:off x="7589520" y="2057400"/>
            <a:ext cx="3749040" cy="320040"/>
          </a:xfrm>
          <a:prstGeom prst="rect">
            <a:avLst/>
          </a:prstGeom>
          <a:noFill/>
          <a:ln/>
        </p:spPr>
        <p:txBody>
          <a:bodyPr wrap="square" lIns="0" tIns="0" rIns="0" bIns="0" rtlCol="0" anchor="ctr"/>
          <a:lstStyle/>
          <a:p>
            <a:pPr indent="0" marL="0">
              <a:buNone/>
            </a:pPr>
            <a:r>
              <a:rPr lang="en-US" sz="1150" b="1" spc="150" kern="0" dirty="0">
                <a:solidFill>
                  <a:srgbClr val="C9974B"/>
                </a:solidFill>
                <a:latin typeface="Calibri" pitchFamily="34" charset="0"/>
                <a:ea typeface="Calibri" pitchFamily="34" charset="-122"/>
                <a:cs typeface="Calibri" pitchFamily="34" charset="-120"/>
              </a:rPr>
              <a:t>RERA APPROVAL PREMIUM</a:t>
            </a:r>
            <a:endParaRPr lang="en-US" sz="1150" dirty="0"/>
          </a:p>
        </p:txBody>
      </p:sp>
      <p:sp>
        <p:nvSpPr>
          <p:cNvPr id="8" name="Text 5"/>
          <p:cNvSpPr txBox="1"/>
          <p:nvPr/>
        </p:nvSpPr>
        <p:spPr>
          <a:xfrm>
            <a:off x="7589520" y="2377440"/>
            <a:ext cx="374904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~5%</a:t>
            </a:r>
            <a:endParaRPr lang="en-US" sz="5400" dirty="0"/>
          </a:p>
        </p:txBody>
      </p:sp>
      <p:sp>
        <p:nvSpPr>
          <p:cNvPr id="9" name="Text 6"/>
          <p:cNvSpPr txBox="1"/>
          <p:nvPr/>
        </p:nvSpPr>
        <p:spPr>
          <a:xfrm>
            <a:off x="7589520" y="3246120"/>
            <a:ext cx="3749040" cy="5486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higher median price for RERA-approved properties</a:t>
            </a:r>
            <a:endParaRPr lang="en-US" sz="1250" dirty="0"/>
          </a:p>
        </p:txBody>
      </p:sp>
      <p:sp>
        <p:nvSpPr>
          <p:cNvPr id="10" name="Shape 7"/>
          <p:cNvSpPr/>
          <p:nvPr/>
        </p:nvSpPr>
        <p:spPr>
          <a:xfrm>
            <a:off x="7589520" y="3931920"/>
            <a:ext cx="3749040" cy="0"/>
          </a:xfrm>
          <a:prstGeom prst="line">
            <a:avLst/>
          </a:prstGeom>
          <a:noFill/>
          <a:ln w="12700">
            <a:solidFill>
              <a:srgbClr val="39407A"/>
            </a:solidFill>
            <a:prstDash val="solid"/>
          </a:ln>
        </p:spPr>
      </p:sp>
      <p:sp>
        <p:nvSpPr>
          <p:cNvPr id="11" name="Text 8"/>
          <p:cNvSpPr txBox="1"/>
          <p:nvPr/>
        </p:nvSpPr>
        <p:spPr>
          <a:xfrm>
            <a:off x="7589520" y="4069080"/>
            <a:ext cx="182880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₹2.71 Cr</a:t>
            </a:r>
            <a:endParaRPr lang="en-US" sz="2000" dirty="0"/>
          </a:p>
        </p:txBody>
      </p:sp>
      <p:sp>
        <p:nvSpPr>
          <p:cNvPr id="12" name="Text 9"/>
          <p:cNvSpPr txBox="1"/>
          <p:nvPr/>
        </p:nvSpPr>
        <p:spPr>
          <a:xfrm>
            <a:off x="7589520" y="4480560"/>
            <a:ext cx="1828800" cy="45720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RERA-approved (median)</a:t>
            </a:r>
            <a:endParaRPr lang="en-US" sz="1000" dirty="0"/>
          </a:p>
        </p:txBody>
      </p:sp>
      <p:sp>
        <p:nvSpPr>
          <p:cNvPr id="13" name="Text 10"/>
          <p:cNvSpPr txBox="1"/>
          <p:nvPr/>
        </p:nvSpPr>
        <p:spPr>
          <a:xfrm>
            <a:off x="9418320" y="4069080"/>
            <a:ext cx="192024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₹2.58 Cr</a:t>
            </a:r>
            <a:endParaRPr lang="en-US" sz="2000" dirty="0"/>
          </a:p>
        </p:txBody>
      </p:sp>
      <p:sp>
        <p:nvSpPr>
          <p:cNvPr id="14" name="Text 11"/>
          <p:cNvSpPr txBox="1"/>
          <p:nvPr/>
        </p:nvSpPr>
        <p:spPr>
          <a:xfrm>
            <a:off x="9418320" y="4480560"/>
            <a:ext cx="1920240" cy="45720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Not approved (median)</a:t>
            </a:r>
            <a:endParaRPr lang="en-US" sz="1000" dirty="0"/>
          </a:p>
        </p:txBody>
      </p:sp>
      <p:sp>
        <p:nvSpPr>
          <p:cNvPr id="15" name="Text 12"/>
          <p:cNvSpPr txBox="1"/>
          <p:nvPr/>
        </p:nvSpPr>
        <p:spPr>
          <a:xfrm>
            <a:off x="7589520" y="5029200"/>
            <a:ext cx="3749040" cy="640080"/>
          </a:xfrm>
          <a:prstGeom prst="rect">
            <a:avLst/>
          </a:prstGeom>
          <a:noFill/>
          <a:ln/>
        </p:spPr>
        <p:txBody>
          <a:bodyPr wrap="square" lIns="0" tIns="0" rIns="0" bIns="0"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Note: mean price actually favors non-RERA listings, but that's skewed by a few ultra-luxury outliers — median is the fairer comparison.</a:t>
            </a:r>
            <a:endParaRPr lang="en-US" sz="1000" dirty="0"/>
          </a:p>
        </p:txBody>
      </p:sp>
      <p:sp>
        <p:nvSpPr>
          <p:cNvPr id="16" name="Text 13"/>
          <p:cNvSpPr txBox="1"/>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A6B87"/>
                </a:solidFill>
                <a:latin typeface="Calibri" pitchFamily="34" charset="0"/>
                <a:ea typeface="Calibri" pitchFamily="34" charset="-122"/>
                <a:cs typeface="Calibri" pitchFamily="34" charset="-120"/>
              </a:rPr>
              <a:t>Gurgaon Real Estate Market Analysis</a:t>
            </a:r>
            <a:endParaRPr lang="en-US" sz="900" dirty="0"/>
          </a:p>
        </p:txBody>
      </p:sp>
      <p:sp>
        <p:nvSpPr>
          <p:cNvPr id="17" name="Text 14"/>
          <p:cNvSpPr txBox="1"/>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A6B8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C9974B"/>
                </a:solidFill>
                <a:latin typeface="Calibri" pitchFamily="34" charset="0"/>
                <a:ea typeface="Calibri" pitchFamily="34" charset="-122"/>
                <a:cs typeface="Calibri" pitchFamily="34" charset="-120"/>
              </a:rPr>
              <a:t>QUESTION 6</a:t>
            </a:r>
            <a:endParaRPr lang="en-US" sz="1200" dirty="0"/>
          </a:p>
        </p:txBody>
      </p:sp>
      <p:sp>
        <p:nvSpPr>
          <p:cNvPr id="3" name="Text 1"/>
          <p:cNvSpPr txBox="1"/>
          <p:nvPr/>
        </p:nvSpPr>
        <p:spPr>
          <a:xfrm>
            <a:off x="548640" y="594360"/>
            <a:ext cx="109728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Does Bigger Mean Pricier?</a:t>
            </a:r>
            <a:endParaRPr lang="en-US" sz="3000" dirty="0"/>
          </a:p>
        </p:txBody>
      </p:sp>
      <p:graphicFrame>
        <p:nvGraphicFramePr>
          <p:cNvPr id="4" name="Chart 0" descr=""/>
          <p:cNvGraphicFramePr/>
          <p:nvPr/>
        </p:nvGraphicFramePr>
        <p:xfrm>
          <a:off x="548640" y="1554480"/>
          <a:ext cx="110642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943600"/>
            <a:ext cx="11064240" cy="548640"/>
          </a:xfrm>
          <a:prstGeom prst="rect">
            <a:avLst/>
          </a:prstGeom>
          <a:noFill/>
          <a:ln/>
        </p:spPr>
        <p:txBody>
          <a:bodyPr wrap="square" lIns="0" tIns="0" rIns="0" bIns="0" rtlCol="0" anchor="ctr"/>
          <a:lstStyle/>
          <a:p>
            <a:pPr indent="0" marL="0">
              <a:buNone/>
            </a:pPr>
            <a:r>
              <a:rPr lang="en-US" sz="1100" i="1" dirty="0">
                <a:solidFill>
                  <a:srgbClr val="5A6B87"/>
                </a:solidFill>
                <a:latin typeface="Calibri" pitchFamily="34" charset="0"/>
                <a:ea typeface="Calibri" pitchFamily="34" charset="-122"/>
                <a:cs typeface="Calibri" pitchFamily="34" charset="-120"/>
              </a:rPr>
              <a:t>Illustrative pattern from the dataset — price rises with area overall, but a long tail of ultra-luxury outliers (like the ₹122.63 Cr Sector 42 flat) pulls the trend upward. See the notebook for the full scatter of all 19,515 listings.</a:t>
            </a:r>
            <a:endParaRPr lang="en-US" sz="1100" dirty="0"/>
          </a:p>
        </p:txBody>
      </p:sp>
      <p:sp>
        <p:nvSpPr>
          <p:cNvPr id="6" name="Text 3"/>
          <p:cNvSpPr txBox="1"/>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A6B87"/>
                </a:solidFill>
                <a:latin typeface="Calibri" pitchFamily="34" charset="0"/>
                <a:ea typeface="Calibri" pitchFamily="34" charset="-122"/>
                <a:cs typeface="Calibri" pitchFamily="34" charset="-120"/>
              </a:rPr>
              <a:t>Gurgaon Real Estate Market Analysis</a:t>
            </a:r>
            <a:endParaRPr lang="en-US" sz="900" dirty="0"/>
          </a:p>
        </p:txBody>
      </p:sp>
      <p:sp>
        <p:nvSpPr>
          <p:cNvPr id="7" name="Text 4"/>
          <p:cNvSpPr txBox="1"/>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A6B8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C9974B"/>
                </a:solidFill>
                <a:latin typeface="Calibri" pitchFamily="34" charset="0"/>
                <a:ea typeface="Calibri" pitchFamily="34" charset="-122"/>
                <a:cs typeface="Calibri" pitchFamily="34" charset="-120"/>
              </a:rPr>
              <a:t>QUESTIONS 7 &amp; 8</a:t>
            </a:r>
            <a:endParaRPr lang="en-US" sz="1200" dirty="0"/>
          </a:p>
        </p:txBody>
      </p:sp>
      <p:sp>
        <p:nvSpPr>
          <p:cNvPr id="3" name="Text 1"/>
          <p:cNvSpPr txBox="1"/>
          <p:nvPr/>
        </p:nvSpPr>
        <p:spPr>
          <a:xfrm>
            <a:off x="548640" y="594360"/>
            <a:ext cx="109728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Configuration &amp; Property Type</a:t>
            </a:r>
            <a:endParaRPr lang="en-US" sz="3000" dirty="0"/>
          </a:p>
        </p:txBody>
      </p:sp>
      <p:sp>
        <p:nvSpPr>
          <p:cNvPr id="4" name="Text 2"/>
          <p:cNvSpPr txBox="1"/>
          <p:nvPr/>
        </p:nvSpPr>
        <p:spPr>
          <a:xfrm>
            <a:off x="548640" y="1463040"/>
            <a:ext cx="5303520" cy="320040"/>
          </a:xfrm>
          <a:prstGeom prst="rect">
            <a:avLst/>
          </a:prstGeom>
          <a:noFill/>
          <a:ln/>
        </p:spPr>
        <p:txBody>
          <a:bodyPr wrap="square" lIns="0" tIns="0" rIns="0" bIns="0" rtlCol="0" anchor="ctr"/>
          <a:lstStyle/>
          <a:p>
            <a:pPr indent="0" marL="0">
              <a:buNone/>
            </a:pPr>
            <a:r>
              <a:rPr lang="en-US" sz="1200" b="1" spc="100" kern="0" dirty="0">
                <a:solidFill>
                  <a:srgbClr val="1E2761"/>
                </a:solidFill>
                <a:latin typeface="Calibri" pitchFamily="34" charset="0"/>
                <a:ea typeface="Calibri" pitchFamily="34" charset="-122"/>
                <a:cs typeface="Calibri" pitchFamily="34" charset="-120"/>
              </a:rPr>
              <a:t>MOST EXPENSIVE BHK (AVG. PRICE)</a:t>
            </a:r>
            <a:endParaRPr lang="en-US" sz="1200" dirty="0"/>
          </a:p>
        </p:txBody>
      </p:sp>
      <p:sp>
        <p:nvSpPr>
          <p:cNvPr id="5" name="Shape 3"/>
          <p:cNvSpPr/>
          <p:nvPr/>
        </p:nvSpPr>
        <p:spPr>
          <a:xfrm>
            <a:off x="548640" y="1828800"/>
            <a:ext cx="2560320" cy="1554480"/>
          </a:xfrm>
          <a:prstGeom prst="roundRect">
            <a:avLst>
              <a:gd name="adj" fmla="val 4706"/>
            </a:avLst>
          </a:prstGeom>
          <a:solidFill>
            <a:srgbClr val="1E2761"/>
          </a:solidFill>
          <a:ln w="12700">
            <a:solidFill>
              <a:srgbClr val="E3E7F0"/>
            </a:solidFill>
            <a:prstDash val="solid"/>
          </a:ln>
          <a:effectLst>
            <a:outerShdw sx="100000" sy="100000" kx="0" ky="0" algn="bl" rotWithShape="0" blurRad="101600" dist="38100" dir="5400000">
              <a:srgbClr val="1E2761">
                <a:alpha val="12000"/>
              </a:srgbClr>
            </a:outerShdw>
          </a:effectLst>
        </p:spPr>
      </p:sp>
      <p:sp>
        <p:nvSpPr>
          <p:cNvPr id="6" name="Text 4"/>
          <p:cNvSpPr txBox="1"/>
          <p:nvPr/>
        </p:nvSpPr>
        <p:spPr>
          <a:xfrm>
            <a:off x="685800" y="1938528"/>
            <a:ext cx="2286000" cy="854964"/>
          </a:xfrm>
          <a:prstGeom prst="rect">
            <a:avLst/>
          </a:prstGeom>
          <a:noFill/>
          <a:ln/>
        </p:spPr>
        <p:txBody>
          <a:bodyPr wrap="square" lIns="0" tIns="0" rIns="0" bIns="0" rtlCol="0" anchor="b"/>
          <a:lstStyle/>
          <a:p>
            <a:pPr algn="l" indent="0" marL="0">
              <a:buNone/>
            </a:pPr>
            <a:r>
              <a:rPr lang="en-US" sz="2400" b="1" dirty="0">
                <a:solidFill>
                  <a:srgbClr val="FFFFFF"/>
                </a:solidFill>
                <a:latin typeface="Cambria" pitchFamily="34" charset="0"/>
                <a:ea typeface="Cambria" pitchFamily="34" charset="-122"/>
                <a:cs typeface="Cambria" pitchFamily="34" charset="-120"/>
              </a:rPr>
              <a:t>₹21.93 Cr</a:t>
            </a:r>
            <a:endParaRPr lang="en-US" sz="2400" dirty="0"/>
          </a:p>
        </p:txBody>
      </p:sp>
      <p:sp>
        <p:nvSpPr>
          <p:cNvPr id="7" name="Text 5"/>
          <p:cNvSpPr txBox="1"/>
          <p:nvPr/>
        </p:nvSpPr>
        <p:spPr>
          <a:xfrm>
            <a:off x="685800" y="2761488"/>
            <a:ext cx="2286000" cy="544068"/>
          </a:xfrm>
          <a:prstGeom prst="rect">
            <a:avLst/>
          </a:prstGeom>
          <a:noFill/>
          <a:ln/>
        </p:spPr>
        <p:txBody>
          <a:bodyPr wrap="square" lIns="0" tIns="0" rIns="0" bIns="0" rtlCol="0" anchor="t"/>
          <a:lstStyle/>
          <a:p>
            <a:pPr algn="l" indent="0" marL="0">
              <a:buNone/>
            </a:pPr>
            <a:r>
              <a:rPr lang="en-US" sz="1100" dirty="0">
                <a:solidFill>
                  <a:srgbClr val="5A6B87"/>
                </a:solidFill>
                <a:latin typeface="Calibri" pitchFamily="34" charset="0"/>
                <a:ea typeface="Calibri" pitchFamily="34" charset="-122"/>
                <a:cs typeface="Calibri" pitchFamily="34" charset="-120"/>
              </a:rPr>
              <a:t>7 BHK — average price</a:t>
            </a:r>
            <a:endParaRPr lang="en-US" sz="1100" dirty="0"/>
          </a:p>
        </p:txBody>
      </p:sp>
      <p:sp>
        <p:nvSpPr>
          <p:cNvPr id="8" name="Shape 6"/>
          <p:cNvSpPr/>
          <p:nvPr/>
        </p:nvSpPr>
        <p:spPr>
          <a:xfrm>
            <a:off x="3291840" y="1828800"/>
            <a:ext cx="2560320" cy="1554480"/>
          </a:xfrm>
          <a:prstGeom prst="roundRect">
            <a:avLst>
              <a:gd name="adj" fmla="val 4706"/>
            </a:avLst>
          </a:prstGeom>
          <a:solidFill>
            <a:srgbClr val="F5F7FB"/>
          </a:solidFill>
          <a:ln w="12700">
            <a:solidFill>
              <a:srgbClr val="E3E7F0"/>
            </a:solidFill>
            <a:prstDash val="solid"/>
          </a:ln>
          <a:effectLst>
            <a:outerShdw sx="100000" sy="100000" kx="0" ky="0" algn="bl" rotWithShape="0" blurRad="101600" dist="38100" dir="5400000">
              <a:srgbClr val="1E2761">
                <a:alpha val="12000"/>
              </a:srgbClr>
            </a:outerShdw>
          </a:effectLst>
        </p:spPr>
      </p:sp>
      <p:sp>
        <p:nvSpPr>
          <p:cNvPr id="9" name="Text 7"/>
          <p:cNvSpPr txBox="1"/>
          <p:nvPr/>
        </p:nvSpPr>
        <p:spPr>
          <a:xfrm>
            <a:off x="3429000" y="1938528"/>
            <a:ext cx="2286000" cy="854964"/>
          </a:xfrm>
          <a:prstGeom prst="rect">
            <a:avLst/>
          </a:prstGeom>
          <a:noFill/>
          <a:ln/>
        </p:spPr>
        <p:txBody>
          <a:bodyPr wrap="square" lIns="0" tIns="0" rIns="0" bIns="0" rtlCol="0" anchor="b"/>
          <a:lstStyle/>
          <a:p>
            <a:pPr algn="l" indent="0" marL="0">
              <a:buNone/>
            </a:pPr>
            <a:r>
              <a:rPr lang="en-US" sz="2400" b="1" dirty="0">
                <a:solidFill>
                  <a:srgbClr val="1E2761"/>
                </a:solidFill>
                <a:latin typeface="Cambria" pitchFamily="34" charset="0"/>
                <a:ea typeface="Cambria" pitchFamily="34" charset="-122"/>
                <a:cs typeface="Cambria" pitchFamily="34" charset="-120"/>
              </a:rPr>
              <a:t>₹16.91 Cr</a:t>
            </a:r>
            <a:endParaRPr lang="en-US" sz="2400" dirty="0"/>
          </a:p>
        </p:txBody>
      </p:sp>
      <p:sp>
        <p:nvSpPr>
          <p:cNvPr id="10" name="Text 8"/>
          <p:cNvSpPr txBox="1"/>
          <p:nvPr/>
        </p:nvSpPr>
        <p:spPr>
          <a:xfrm>
            <a:off x="3429000" y="2761488"/>
            <a:ext cx="2286000" cy="544068"/>
          </a:xfrm>
          <a:prstGeom prst="rect">
            <a:avLst/>
          </a:prstGeom>
          <a:noFill/>
          <a:ln/>
        </p:spPr>
        <p:txBody>
          <a:bodyPr wrap="square" lIns="0" tIns="0" rIns="0" bIns="0" rtlCol="0" anchor="t"/>
          <a:lstStyle/>
          <a:p>
            <a:pPr algn="l" indent="0" marL="0">
              <a:buNone/>
            </a:pPr>
            <a:r>
              <a:rPr lang="en-US" sz="1100" dirty="0">
                <a:solidFill>
                  <a:srgbClr val="5A6B87"/>
                </a:solidFill>
                <a:latin typeface="Calibri" pitchFamily="34" charset="0"/>
                <a:ea typeface="Calibri" pitchFamily="34" charset="-122"/>
                <a:cs typeface="Calibri" pitchFamily="34" charset="-120"/>
              </a:rPr>
              <a:t>6 BHK — average price</a:t>
            </a:r>
            <a:endParaRPr lang="en-US" sz="1100" dirty="0"/>
          </a:p>
        </p:txBody>
      </p:sp>
      <p:sp>
        <p:nvSpPr>
          <p:cNvPr id="11" name="Text 9"/>
          <p:cNvSpPr txBox="1"/>
          <p:nvPr/>
        </p:nvSpPr>
        <p:spPr>
          <a:xfrm>
            <a:off x="548640" y="3520440"/>
            <a:ext cx="5486400" cy="548640"/>
          </a:xfrm>
          <a:prstGeom prst="rect">
            <a:avLst/>
          </a:prstGeom>
          <a:noFill/>
          <a:ln/>
        </p:spPr>
        <p:txBody>
          <a:bodyPr wrap="square" lIns="0" tIns="0" rIns="0" bIns="0" rtlCol="0" anchor="ctr"/>
          <a:lstStyle/>
          <a:p>
            <a:pPr indent="0" marL="0">
              <a:buNone/>
            </a:pPr>
            <a:r>
              <a:rPr lang="en-US" sz="1100" i="1" dirty="0">
                <a:solidFill>
                  <a:srgbClr val="5A6B87"/>
                </a:solidFill>
                <a:latin typeface="Calibri" pitchFamily="34" charset="0"/>
                <a:ea typeface="Calibri" pitchFamily="34" charset="-122"/>
                <a:cs typeface="Calibri" pitchFamily="34" charset="-120"/>
              </a:rPr>
              <a:t>These are rare, ultra-luxury configurations — directional, not a mass-market benchmark.</a:t>
            </a:r>
            <a:endParaRPr lang="en-US" sz="1100" dirty="0"/>
          </a:p>
        </p:txBody>
      </p:sp>
      <p:sp>
        <p:nvSpPr>
          <p:cNvPr id="12" name="Text 10"/>
          <p:cNvSpPr txBox="1"/>
          <p:nvPr/>
        </p:nvSpPr>
        <p:spPr>
          <a:xfrm>
            <a:off x="6309360" y="1463040"/>
            <a:ext cx="5303520" cy="320040"/>
          </a:xfrm>
          <a:prstGeom prst="rect">
            <a:avLst/>
          </a:prstGeom>
          <a:noFill/>
          <a:ln/>
        </p:spPr>
        <p:txBody>
          <a:bodyPr wrap="square" lIns="0" tIns="0" rIns="0" bIns="0" rtlCol="0" anchor="ctr"/>
          <a:lstStyle/>
          <a:p>
            <a:pPr indent="0" marL="0">
              <a:buNone/>
            </a:pPr>
            <a:r>
              <a:rPr lang="en-US" sz="1200" b="1" spc="100" kern="0" dirty="0">
                <a:solidFill>
                  <a:srgbClr val="1E2761"/>
                </a:solidFill>
                <a:latin typeface="Calibri" pitchFamily="34" charset="0"/>
                <a:ea typeface="Calibri" pitchFamily="34" charset="-122"/>
                <a:cs typeface="Calibri" pitchFamily="34" charset="-120"/>
              </a:rPr>
              <a:t>TOTAL MARKET VALUE BY PROPERTY TYPE (₹ CR)</a:t>
            </a:r>
            <a:endParaRPr lang="en-US" sz="1200" dirty="0"/>
          </a:p>
        </p:txBody>
      </p:sp>
      <p:graphicFrame>
        <p:nvGraphicFramePr>
          <p:cNvPr id="13" name="Chart 0" descr=""/>
          <p:cNvGraphicFramePr/>
          <p:nvPr/>
        </p:nvGraphicFramePr>
        <p:xfrm>
          <a:off x="6217920" y="1783080"/>
          <a:ext cx="5486400" cy="402336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A6B87"/>
                </a:solidFill>
                <a:latin typeface="Calibri" pitchFamily="34" charset="0"/>
                <a:ea typeface="Calibri" pitchFamily="34" charset="-122"/>
                <a:cs typeface="Calibri" pitchFamily="34" charset="-120"/>
              </a:rPr>
              <a:t>Gurgaon Real Estate Market Analysis</a:t>
            </a:r>
            <a:endParaRPr lang="en-US" sz="900" dirty="0"/>
          </a:p>
        </p:txBody>
      </p:sp>
      <p:sp>
        <p:nvSpPr>
          <p:cNvPr id="15" name="Text 12"/>
          <p:cNvSpPr txBox="1"/>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A6B87"/>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C9974B"/>
                </a:solidFill>
                <a:latin typeface="Calibri" pitchFamily="34" charset="0"/>
                <a:ea typeface="Calibri" pitchFamily="34" charset="-122"/>
                <a:cs typeface="Calibri" pitchFamily="34" charset="-120"/>
              </a:rPr>
              <a:t>QUESTIONS 9 &amp; 10</a:t>
            </a:r>
            <a:endParaRPr lang="en-US" sz="1200" dirty="0"/>
          </a:p>
        </p:txBody>
      </p:sp>
      <p:sp>
        <p:nvSpPr>
          <p:cNvPr id="3" name="Text 1"/>
          <p:cNvSpPr txBox="1"/>
          <p:nvPr/>
        </p:nvSpPr>
        <p:spPr>
          <a:xfrm>
            <a:off x="548640" y="594360"/>
            <a:ext cx="109728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Brand Effect &amp; Size vs. Rate per Sqft</a:t>
            </a:r>
            <a:endParaRPr lang="en-US" sz="3000" dirty="0"/>
          </a:p>
        </p:txBody>
      </p:sp>
      <p:sp>
        <p:nvSpPr>
          <p:cNvPr id="4" name="Shape 2"/>
          <p:cNvSpPr/>
          <p:nvPr/>
        </p:nvSpPr>
        <p:spPr>
          <a:xfrm>
            <a:off x="548640" y="1645920"/>
            <a:ext cx="5394960" cy="4114800"/>
          </a:xfrm>
          <a:prstGeom prst="roundRect">
            <a:avLst>
              <a:gd name="adj" fmla="val 1778"/>
            </a:avLst>
          </a:prstGeom>
          <a:solidFill>
            <a:srgbClr val="F5F7FB"/>
          </a:solidFill>
          <a:ln w="12700">
            <a:solidFill>
              <a:srgbClr val="E3E7F0"/>
            </a:solidFill>
            <a:prstDash val="solid"/>
          </a:ln>
        </p:spPr>
      </p:sp>
      <p:sp>
        <p:nvSpPr>
          <p:cNvPr id="5" name="Text 3"/>
          <p:cNvSpPr txBox="1"/>
          <p:nvPr/>
        </p:nvSpPr>
        <p:spPr>
          <a:xfrm>
            <a:off x="868680" y="1920240"/>
            <a:ext cx="4754880" cy="320040"/>
          </a:xfrm>
          <a:prstGeom prst="rect">
            <a:avLst/>
          </a:prstGeom>
          <a:noFill/>
          <a:ln/>
        </p:spPr>
        <p:txBody>
          <a:bodyPr wrap="square" lIns="0" tIns="0" rIns="0" bIns="0" rtlCol="0" anchor="ctr"/>
          <a:lstStyle/>
          <a:p>
            <a:pPr indent="0" marL="0">
              <a:buNone/>
            </a:pPr>
            <a:r>
              <a:rPr lang="en-US" sz="1200" b="1" spc="100" kern="0" dirty="0">
                <a:solidFill>
                  <a:srgbClr val="1E2761"/>
                </a:solidFill>
                <a:latin typeface="Calibri" pitchFamily="34" charset="0"/>
                <a:ea typeface="Calibri" pitchFamily="34" charset="-122"/>
                <a:cs typeface="Calibri" pitchFamily="34" charset="-120"/>
              </a:rPr>
              <a:t>DO BUILDERS PRICE HIGHER?</a:t>
            </a:r>
            <a:endParaRPr lang="en-US" sz="1200" dirty="0"/>
          </a:p>
        </p:txBody>
      </p:sp>
      <p:sp>
        <p:nvSpPr>
          <p:cNvPr id="6" name="Text 4"/>
          <p:cNvSpPr txBox="1"/>
          <p:nvPr/>
        </p:nvSpPr>
        <p:spPr>
          <a:xfrm>
            <a:off x="868680" y="2331720"/>
            <a:ext cx="4754880" cy="914400"/>
          </a:xfrm>
          <a:prstGeom prst="rect">
            <a:avLst/>
          </a:prstGeom>
          <a:noFill/>
          <a:ln/>
        </p:spPr>
        <p:txBody>
          <a:bodyPr wrap="square" lIns="0" tIns="0" rIns="0" bIns="0" rtlCol="0" anchor="ctr"/>
          <a:lstStyle/>
          <a:p>
            <a:pPr indent="0" marL="0">
              <a:lnSpc>
                <a:spcPct val="120000"/>
              </a:lnSpc>
              <a:buNone/>
            </a:pPr>
            <a:r>
              <a:rPr lang="en-US" sz="1300" dirty="0">
                <a:solidFill>
                  <a:srgbClr val="1F2937"/>
                </a:solidFill>
                <a:latin typeface="Calibri" pitchFamily="34" charset="0"/>
                <a:ea typeface="Calibri" pitchFamily="34" charset="-122"/>
                <a:cs typeface="Calibri" pitchFamily="34" charset="-120"/>
              </a:rPr>
              <a:t>Directionally, yes — established names like Proptiger and Provident Capital, and premium projects like Camellias, top the value and rate-per-sqft rankings.</a:t>
            </a:r>
            <a:endParaRPr lang="en-US" sz="1300" dirty="0"/>
          </a:p>
        </p:txBody>
      </p:sp>
      <p:sp>
        <p:nvSpPr>
          <p:cNvPr id="7" name="Shape 5"/>
          <p:cNvSpPr/>
          <p:nvPr/>
        </p:nvSpPr>
        <p:spPr>
          <a:xfrm>
            <a:off x="868680" y="3337560"/>
            <a:ext cx="4754880" cy="0"/>
          </a:xfrm>
          <a:prstGeom prst="line">
            <a:avLst/>
          </a:prstGeom>
          <a:noFill/>
          <a:ln w="12700">
            <a:solidFill>
              <a:srgbClr val="D8DEEC"/>
            </a:solidFill>
            <a:prstDash val="solid"/>
          </a:ln>
        </p:spPr>
      </p:sp>
      <p:sp>
        <p:nvSpPr>
          <p:cNvPr id="8" name="Text 6"/>
          <p:cNvSpPr txBox="1"/>
          <p:nvPr/>
        </p:nvSpPr>
        <p:spPr>
          <a:xfrm>
            <a:off x="868680" y="3520440"/>
            <a:ext cx="4754880" cy="274320"/>
          </a:xfrm>
          <a:prstGeom prst="rect">
            <a:avLst/>
          </a:prstGeom>
          <a:noFill/>
          <a:ln/>
        </p:spPr>
        <p:txBody>
          <a:bodyPr wrap="square" lIns="0" tIns="0" rIns="0" bIns="0" rtlCol="0" anchor="ctr"/>
          <a:lstStyle/>
          <a:p>
            <a:pPr indent="0" marL="0">
              <a:buNone/>
            </a:pPr>
            <a:r>
              <a:rPr lang="en-US" sz="1100" b="1" dirty="0">
                <a:solidFill>
                  <a:srgbClr val="C9974B"/>
                </a:solidFill>
                <a:latin typeface="Calibri" pitchFamily="34" charset="0"/>
                <a:ea typeface="Calibri" pitchFamily="34" charset="-122"/>
                <a:cs typeface="Calibri" pitchFamily="34" charset="-120"/>
              </a:rPr>
              <a:t>⚠ DATA CAVEAT</a:t>
            </a:r>
            <a:endParaRPr lang="en-US" sz="1100" dirty="0"/>
          </a:p>
        </p:txBody>
      </p:sp>
      <p:sp>
        <p:nvSpPr>
          <p:cNvPr id="9" name="Text 7"/>
          <p:cNvSpPr txBox="1"/>
          <p:nvPr/>
        </p:nvSpPr>
        <p:spPr>
          <a:xfrm>
            <a:off x="868680" y="3840480"/>
            <a:ext cx="4754880" cy="1737360"/>
          </a:xfrm>
          <a:prstGeom prst="rect">
            <a:avLst/>
          </a:prstGeom>
          <a:noFill/>
          <a:ln/>
        </p:spPr>
        <p:txBody>
          <a:bodyPr wrap="square" lIns="0" tIns="0" rIns="0" bIns="0" rtlCol="0" anchor="ctr"/>
          <a:lstStyle/>
          <a:p>
            <a:pPr indent="0" marL="0">
              <a:lnSpc>
                <a:spcPct val="120000"/>
              </a:lnSpc>
              <a:buNone/>
            </a:pPr>
            <a:r>
              <a:rPr lang="en-US" sz="1200" i="1" dirty="0">
                <a:solidFill>
                  <a:srgbClr val="5A6B87"/>
                </a:solidFill>
                <a:latin typeface="Calibri" pitchFamily="34" charset="0"/>
                <a:ea typeface="Calibri" pitchFamily="34" charset="-122"/>
                <a:cs typeface="Calibri" pitchFamily="34" charset="-120"/>
              </a:rPr>
              <a:t>Builder/company fields have typos and duplicate spellings (e.g. "Camelliaass" vs "Cameliaas") and some non-builder text. Needs cleanup before this drives real decisions.</a:t>
            </a:r>
            <a:endParaRPr lang="en-US" sz="1200" dirty="0"/>
          </a:p>
        </p:txBody>
      </p:sp>
      <p:sp>
        <p:nvSpPr>
          <p:cNvPr id="10" name="Shape 8"/>
          <p:cNvSpPr/>
          <p:nvPr/>
        </p:nvSpPr>
        <p:spPr>
          <a:xfrm>
            <a:off x="6263640" y="1645920"/>
            <a:ext cx="5394960" cy="4114800"/>
          </a:xfrm>
          <a:prstGeom prst="roundRect">
            <a:avLst>
              <a:gd name="adj" fmla="val 1778"/>
            </a:avLst>
          </a:prstGeom>
          <a:solidFill>
            <a:srgbClr val="1E2761"/>
          </a:solidFill>
          <a:ln/>
        </p:spPr>
      </p:sp>
      <p:sp>
        <p:nvSpPr>
          <p:cNvPr id="11" name="Text 9"/>
          <p:cNvSpPr txBox="1"/>
          <p:nvPr/>
        </p:nvSpPr>
        <p:spPr>
          <a:xfrm>
            <a:off x="6583680" y="1920240"/>
            <a:ext cx="4754880" cy="320040"/>
          </a:xfrm>
          <a:prstGeom prst="rect">
            <a:avLst/>
          </a:prstGeom>
          <a:noFill/>
          <a:ln/>
        </p:spPr>
        <p:txBody>
          <a:bodyPr wrap="square" lIns="0" tIns="0" rIns="0" bIns="0" rtlCol="0" anchor="ctr"/>
          <a:lstStyle/>
          <a:p>
            <a:pPr indent="0" marL="0">
              <a:buNone/>
            </a:pPr>
            <a:r>
              <a:rPr lang="en-US" sz="1200" b="1" spc="100" kern="0" dirty="0">
                <a:solidFill>
                  <a:srgbClr val="C9974B"/>
                </a:solidFill>
                <a:latin typeface="Calibri" pitchFamily="34" charset="0"/>
                <a:ea typeface="Calibri" pitchFamily="34" charset="-122"/>
                <a:cs typeface="Calibri" pitchFamily="34" charset="-120"/>
              </a:rPr>
              <a:t>ARE LARGER HOMES PRICIER PER SQFT?</a:t>
            </a:r>
            <a:endParaRPr lang="en-US" sz="1200" dirty="0"/>
          </a:p>
        </p:txBody>
      </p:sp>
      <p:sp>
        <p:nvSpPr>
          <p:cNvPr id="12" name="Text 10"/>
          <p:cNvSpPr txBox="1"/>
          <p:nvPr/>
        </p:nvSpPr>
        <p:spPr>
          <a:xfrm>
            <a:off x="6583680" y="2286000"/>
            <a:ext cx="475488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NO</a:t>
            </a:r>
            <a:endParaRPr lang="en-US" sz="4800" dirty="0"/>
          </a:p>
        </p:txBody>
      </p:sp>
      <p:sp>
        <p:nvSpPr>
          <p:cNvPr id="13" name="Text 11"/>
          <p:cNvSpPr txBox="1"/>
          <p:nvPr/>
        </p:nvSpPr>
        <p:spPr>
          <a:xfrm>
            <a:off x="6583680" y="3246120"/>
            <a:ext cx="4754880" cy="2194560"/>
          </a:xfrm>
          <a:prstGeom prst="rect">
            <a:avLst/>
          </a:prstGeom>
          <a:noFill/>
          <a:ln/>
        </p:spPr>
        <p:txBody>
          <a:bodyPr wrap="square" lIns="0" tIns="0" rIns="0" bIns="0" rtlCol="0" anchor="ctr"/>
          <a:lstStyle/>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Size alone doesn't drive premium pricing. Small luxury apartments in premium societies often out-price large plots on a per-sqft basis — location and brand matter more than square footage.</a:t>
            </a:r>
            <a:endParaRPr lang="en-US" sz="1300" dirty="0"/>
          </a:p>
        </p:txBody>
      </p:sp>
      <p:sp>
        <p:nvSpPr>
          <p:cNvPr id="14" name="Text 12"/>
          <p:cNvSpPr txBox="1"/>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A6B87"/>
                </a:solidFill>
                <a:latin typeface="Calibri" pitchFamily="34" charset="0"/>
                <a:ea typeface="Calibri" pitchFamily="34" charset="-122"/>
                <a:cs typeface="Calibri" pitchFamily="34" charset="-120"/>
              </a:rPr>
              <a:t>Gurgaon Real Estate Market Analysis</a:t>
            </a:r>
            <a:endParaRPr lang="en-US" sz="900" dirty="0"/>
          </a:p>
        </p:txBody>
      </p:sp>
      <p:sp>
        <p:nvSpPr>
          <p:cNvPr id="15" name="Text 13"/>
          <p:cNvSpPr txBox="1"/>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A6B87"/>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C9974B"/>
                </a:solidFill>
                <a:latin typeface="Calibri" pitchFamily="34" charset="0"/>
                <a:ea typeface="Calibri" pitchFamily="34" charset="-122"/>
                <a:cs typeface="Calibri" pitchFamily="34" charset="-120"/>
              </a:rPr>
              <a:t>SO WHAT?</a:t>
            </a:r>
            <a:endParaRPr lang="en-US" sz="1200" dirty="0"/>
          </a:p>
        </p:txBody>
      </p:sp>
      <p:sp>
        <p:nvSpPr>
          <p:cNvPr id="3" name="Text 1"/>
          <p:cNvSpPr txBox="1"/>
          <p:nvPr/>
        </p:nvSpPr>
        <p:spPr>
          <a:xfrm>
            <a:off x="548640" y="594360"/>
            <a:ext cx="109728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Recommendations for the Business</a:t>
            </a:r>
            <a:endParaRPr lang="en-US" sz="3000" dirty="0"/>
          </a:p>
        </p:txBody>
      </p:sp>
      <p:sp>
        <p:nvSpPr>
          <p:cNvPr id="4" name="Shape 2"/>
          <p:cNvSpPr/>
          <p:nvPr/>
        </p:nvSpPr>
        <p:spPr>
          <a:xfrm>
            <a:off x="548640" y="1600200"/>
            <a:ext cx="5440680" cy="2011680"/>
          </a:xfrm>
          <a:prstGeom prst="roundRect">
            <a:avLst>
              <a:gd name="adj" fmla="val 3636"/>
            </a:avLst>
          </a:prstGeom>
          <a:solidFill>
            <a:srgbClr val="F5F7FB"/>
          </a:solidFill>
          <a:ln w="12700">
            <a:solidFill>
              <a:srgbClr val="E3E7F0"/>
            </a:solidFill>
            <a:prstDash val="solid"/>
          </a:ln>
        </p:spPr>
      </p:sp>
      <p:sp>
        <p:nvSpPr>
          <p:cNvPr id="5" name="Shape 3"/>
          <p:cNvSpPr/>
          <p:nvPr/>
        </p:nvSpPr>
        <p:spPr>
          <a:xfrm>
            <a:off x="777240" y="1828800"/>
            <a:ext cx="457200" cy="457200"/>
          </a:xfrm>
          <a:prstGeom prst="roundRect">
            <a:avLst>
              <a:gd name="adj" fmla="val 50000"/>
            </a:avLst>
          </a:prstGeom>
          <a:solidFill>
            <a:srgbClr val="1E2761"/>
          </a:solidFill>
          <a:ln/>
        </p:spPr>
      </p:sp>
      <p:sp>
        <p:nvSpPr>
          <p:cNvPr id="6" name="Text 4"/>
          <p:cNvSpPr txBox="1"/>
          <p:nvPr/>
        </p:nvSpPr>
        <p:spPr>
          <a:xfrm>
            <a:off x="77724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417320" y="1801368"/>
            <a:ext cx="43434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For Buyers</a:t>
            </a:r>
            <a:endParaRPr lang="en-US" sz="1500" dirty="0"/>
          </a:p>
        </p:txBody>
      </p:sp>
      <p:sp>
        <p:nvSpPr>
          <p:cNvPr id="8" name="Text 6"/>
          <p:cNvSpPr txBox="1"/>
          <p:nvPr/>
        </p:nvSpPr>
        <p:spPr>
          <a:xfrm>
            <a:off x="777240" y="2377440"/>
            <a:ext cx="4983480" cy="1051560"/>
          </a:xfrm>
          <a:prstGeom prst="rect">
            <a:avLst/>
          </a:prstGeom>
          <a:noFill/>
          <a:ln/>
        </p:spPr>
        <p:txBody>
          <a:bodyPr wrap="square" lIns="0" tIns="0" rIns="0" bIns="0" rtlCol="0" anchor="ctr"/>
          <a:lstStyle/>
          <a:p>
            <a:pPr indent="0" marL="0">
              <a:lnSpc>
                <a:spcPct val="120000"/>
              </a:lnSpc>
              <a:buNone/>
            </a:pPr>
            <a:r>
              <a:rPr lang="en-US" sz="1150" dirty="0">
                <a:solidFill>
                  <a:srgbClr val="1F2937"/>
                </a:solidFill>
                <a:latin typeface="Calibri" pitchFamily="34" charset="0"/>
                <a:ea typeface="Calibri" pitchFamily="34" charset="-122"/>
                <a:cs typeface="Calibri" pitchFamily="34" charset="-120"/>
              </a:rPr>
              <a:t>Sector 42 and Sector 113 command genuine premiums — budget accordingly. Prefer RERA-approved listings for a small price trade-off in exchange for regulatory protection.</a:t>
            </a:r>
            <a:endParaRPr lang="en-US" sz="1150" dirty="0"/>
          </a:p>
        </p:txBody>
      </p:sp>
      <p:sp>
        <p:nvSpPr>
          <p:cNvPr id="9" name="Shape 7"/>
          <p:cNvSpPr/>
          <p:nvPr/>
        </p:nvSpPr>
        <p:spPr>
          <a:xfrm>
            <a:off x="6263640" y="1600200"/>
            <a:ext cx="5440680" cy="2011680"/>
          </a:xfrm>
          <a:prstGeom prst="roundRect">
            <a:avLst>
              <a:gd name="adj" fmla="val 3636"/>
            </a:avLst>
          </a:prstGeom>
          <a:solidFill>
            <a:srgbClr val="F5F7FB"/>
          </a:solidFill>
          <a:ln w="12700">
            <a:solidFill>
              <a:srgbClr val="E3E7F0"/>
            </a:solidFill>
            <a:prstDash val="solid"/>
          </a:ln>
        </p:spPr>
      </p:sp>
      <p:sp>
        <p:nvSpPr>
          <p:cNvPr id="10" name="Shape 8"/>
          <p:cNvSpPr/>
          <p:nvPr/>
        </p:nvSpPr>
        <p:spPr>
          <a:xfrm>
            <a:off x="6492240" y="1828800"/>
            <a:ext cx="457200" cy="457200"/>
          </a:xfrm>
          <a:prstGeom prst="roundRect">
            <a:avLst>
              <a:gd name="adj" fmla="val 50000"/>
            </a:avLst>
          </a:prstGeom>
          <a:solidFill>
            <a:srgbClr val="1E2761"/>
          </a:solidFill>
          <a:ln/>
        </p:spPr>
      </p:sp>
      <p:sp>
        <p:nvSpPr>
          <p:cNvPr id="11" name="Text 9"/>
          <p:cNvSpPr txBox="1"/>
          <p:nvPr/>
        </p:nvSpPr>
        <p:spPr>
          <a:xfrm>
            <a:off x="649224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7132320" y="1801368"/>
            <a:ext cx="43434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For Investors</a:t>
            </a:r>
            <a:endParaRPr lang="en-US" sz="1500" dirty="0"/>
          </a:p>
        </p:txBody>
      </p:sp>
      <p:sp>
        <p:nvSpPr>
          <p:cNvPr id="13" name="Text 11"/>
          <p:cNvSpPr txBox="1"/>
          <p:nvPr/>
        </p:nvSpPr>
        <p:spPr>
          <a:xfrm>
            <a:off x="6492240" y="2377440"/>
            <a:ext cx="4983480" cy="1051560"/>
          </a:xfrm>
          <a:prstGeom prst="rect">
            <a:avLst/>
          </a:prstGeom>
          <a:noFill/>
          <a:ln/>
        </p:spPr>
        <p:txBody>
          <a:bodyPr wrap="square" lIns="0" tIns="0" rIns="0" bIns="0" rtlCol="0" anchor="ctr"/>
          <a:lstStyle/>
          <a:p>
            <a:pPr indent="0" marL="0">
              <a:lnSpc>
                <a:spcPct val="120000"/>
              </a:lnSpc>
              <a:buNone/>
            </a:pPr>
            <a:r>
              <a:rPr lang="en-US" sz="1150" dirty="0">
                <a:solidFill>
                  <a:srgbClr val="1F2937"/>
                </a:solidFill>
                <a:latin typeface="Calibri" pitchFamily="34" charset="0"/>
                <a:ea typeface="Calibri" pitchFamily="34" charset="-122"/>
                <a:cs typeface="Calibri" pitchFamily="34" charset="-120"/>
              </a:rPr>
              <a:t>Resale properties show the highest median price, suggesting strong long-term appreciation in established societies — worth prioritizing over new/under-construction stock for value retention.</a:t>
            </a:r>
            <a:endParaRPr lang="en-US" sz="1150" dirty="0"/>
          </a:p>
        </p:txBody>
      </p:sp>
      <p:sp>
        <p:nvSpPr>
          <p:cNvPr id="14" name="Shape 12"/>
          <p:cNvSpPr/>
          <p:nvPr/>
        </p:nvSpPr>
        <p:spPr>
          <a:xfrm>
            <a:off x="548640" y="3886200"/>
            <a:ext cx="5440680" cy="2011680"/>
          </a:xfrm>
          <a:prstGeom prst="roundRect">
            <a:avLst>
              <a:gd name="adj" fmla="val 3636"/>
            </a:avLst>
          </a:prstGeom>
          <a:solidFill>
            <a:srgbClr val="F5F7FB"/>
          </a:solidFill>
          <a:ln w="12700">
            <a:solidFill>
              <a:srgbClr val="E3E7F0"/>
            </a:solidFill>
            <a:prstDash val="solid"/>
          </a:ln>
        </p:spPr>
      </p:sp>
      <p:sp>
        <p:nvSpPr>
          <p:cNvPr id="15" name="Shape 13"/>
          <p:cNvSpPr/>
          <p:nvPr/>
        </p:nvSpPr>
        <p:spPr>
          <a:xfrm>
            <a:off x="777240" y="4114800"/>
            <a:ext cx="457200" cy="457200"/>
          </a:xfrm>
          <a:prstGeom prst="roundRect">
            <a:avLst>
              <a:gd name="adj" fmla="val 50000"/>
            </a:avLst>
          </a:prstGeom>
          <a:solidFill>
            <a:srgbClr val="1E2761"/>
          </a:solidFill>
          <a:ln/>
        </p:spPr>
      </p:sp>
      <p:sp>
        <p:nvSpPr>
          <p:cNvPr id="16" name="Text 14"/>
          <p:cNvSpPr txBox="1"/>
          <p:nvPr/>
        </p:nvSpPr>
        <p:spPr>
          <a:xfrm>
            <a:off x="777240" y="4114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417320" y="4087368"/>
            <a:ext cx="43434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For Developers</a:t>
            </a:r>
            <a:endParaRPr lang="en-US" sz="1500" dirty="0"/>
          </a:p>
        </p:txBody>
      </p:sp>
      <p:sp>
        <p:nvSpPr>
          <p:cNvPr id="18" name="Text 16"/>
          <p:cNvSpPr txBox="1"/>
          <p:nvPr/>
        </p:nvSpPr>
        <p:spPr>
          <a:xfrm>
            <a:off x="777240" y="4663440"/>
            <a:ext cx="4983480" cy="1051560"/>
          </a:xfrm>
          <a:prstGeom prst="rect">
            <a:avLst/>
          </a:prstGeom>
          <a:noFill/>
          <a:ln/>
        </p:spPr>
        <p:txBody>
          <a:bodyPr wrap="square" lIns="0" tIns="0" rIns="0" bIns="0" rtlCol="0" anchor="ctr"/>
          <a:lstStyle/>
          <a:p>
            <a:pPr indent="0" marL="0">
              <a:lnSpc>
                <a:spcPct val="120000"/>
              </a:lnSpc>
              <a:buNone/>
            </a:pPr>
            <a:r>
              <a:rPr lang="en-US" sz="1150" dirty="0">
                <a:solidFill>
                  <a:srgbClr val="1F2937"/>
                </a:solidFill>
                <a:latin typeface="Calibri" pitchFamily="34" charset="0"/>
                <a:ea typeface="Calibri" pitchFamily="34" charset="-122"/>
                <a:cs typeface="Calibri" pitchFamily="34" charset="-120"/>
              </a:rPr>
              <a:t>Apartments dominate total market value and demand. Premium branding (e.g. Camellias-style project names) correlates with materially higher rate per sqft.</a:t>
            </a:r>
            <a:endParaRPr lang="en-US" sz="1150" dirty="0"/>
          </a:p>
        </p:txBody>
      </p:sp>
      <p:sp>
        <p:nvSpPr>
          <p:cNvPr id="19" name="Shape 17"/>
          <p:cNvSpPr/>
          <p:nvPr/>
        </p:nvSpPr>
        <p:spPr>
          <a:xfrm>
            <a:off x="6263640" y="3886200"/>
            <a:ext cx="5440680" cy="2011680"/>
          </a:xfrm>
          <a:prstGeom prst="roundRect">
            <a:avLst>
              <a:gd name="adj" fmla="val 3636"/>
            </a:avLst>
          </a:prstGeom>
          <a:solidFill>
            <a:srgbClr val="F5F7FB"/>
          </a:solidFill>
          <a:ln w="12700">
            <a:solidFill>
              <a:srgbClr val="E3E7F0"/>
            </a:solidFill>
            <a:prstDash val="solid"/>
          </a:ln>
        </p:spPr>
      </p:sp>
      <p:sp>
        <p:nvSpPr>
          <p:cNvPr id="20" name="Shape 18"/>
          <p:cNvSpPr/>
          <p:nvPr/>
        </p:nvSpPr>
        <p:spPr>
          <a:xfrm>
            <a:off x="6492240" y="4114800"/>
            <a:ext cx="457200" cy="457200"/>
          </a:xfrm>
          <a:prstGeom prst="roundRect">
            <a:avLst>
              <a:gd name="adj" fmla="val 50000"/>
            </a:avLst>
          </a:prstGeom>
          <a:solidFill>
            <a:srgbClr val="1E2761"/>
          </a:solidFill>
          <a:ln/>
        </p:spPr>
      </p:sp>
      <p:sp>
        <p:nvSpPr>
          <p:cNvPr id="21" name="Text 19"/>
          <p:cNvSpPr txBox="1"/>
          <p:nvPr/>
        </p:nvSpPr>
        <p:spPr>
          <a:xfrm>
            <a:off x="6492240" y="4114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7132320" y="4087368"/>
            <a:ext cx="43434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For the Firm</a:t>
            </a:r>
            <a:endParaRPr lang="en-US" sz="1500" dirty="0"/>
          </a:p>
        </p:txBody>
      </p:sp>
      <p:sp>
        <p:nvSpPr>
          <p:cNvPr id="23" name="Text 21"/>
          <p:cNvSpPr txBox="1"/>
          <p:nvPr/>
        </p:nvSpPr>
        <p:spPr>
          <a:xfrm>
            <a:off x="6492240" y="4663440"/>
            <a:ext cx="4983480" cy="1051560"/>
          </a:xfrm>
          <a:prstGeom prst="rect">
            <a:avLst/>
          </a:prstGeom>
          <a:noFill/>
          <a:ln/>
        </p:spPr>
        <p:txBody>
          <a:bodyPr wrap="square" lIns="0" tIns="0" rIns="0" bIns="0" rtlCol="0" anchor="ctr"/>
          <a:lstStyle/>
          <a:p>
            <a:pPr indent="0" marL="0">
              <a:lnSpc>
                <a:spcPct val="120000"/>
              </a:lnSpc>
              <a:buNone/>
            </a:pPr>
            <a:r>
              <a:rPr lang="en-US" sz="1150" dirty="0">
                <a:solidFill>
                  <a:srgbClr val="1F2937"/>
                </a:solidFill>
                <a:latin typeface="Calibri" pitchFamily="34" charset="0"/>
                <a:ea typeface="Calibri" pitchFamily="34" charset="-122"/>
                <a:cs typeface="Calibri" pitchFamily="34" charset="-120"/>
              </a:rPr>
              <a:t>Clean `builder_name`, `company_name`, and `property_type` fields before using them in client-facing reports — current text inconsistencies risk misleading builder-level claims.</a:t>
            </a:r>
            <a:endParaRPr lang="en-US" sz="1150" dirty="0"/>
          </a:p>
        </p:txBody>
      </p:sp>
      <p:sp>
        <p:nvSpPr>
          <p:cNvPr id="24" name="Text 22"/>
          <p:cNvSpPr txBox="1"/>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A6B87"/>
                </a:solidFill>
                <a:latin typeface="Calibri" pitchFamily="34" charset="0"/>
                <a:ea typeface="Calibri" pitchFamily="34" charset="-122"/>
                <a:cs typeface="Calibri" pitchFamily="34" charset="-120"/>
              </a:rPr>
              <a:t>Gurgaon Real Estate Market Analysis</a:t>
            </a:r>
            <a:endParaRPr lang="en-US" sz="900" dirty="0"/>
          </a:p>
        </p:txBody>
      </p:sp>
      <p:sp>
        <p:nvSpPr>
          <p:cNvPr id="25" name="Text 23"/>
          <p:cNvSpPr txBox="1"/>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A6B8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C9974B"/>
                </a:solidFill>
                <a:latin typeface="Calibri" pitchFamily="34" charset="0"/>
                <a:ea typeface="Calibri" pitchFamily="34" charset="-122"/>
                <a:cs typeface="Calibri" pitchFamily="34" charset="-120"/>
              </a:rPr>
              <a:t>BEFORE WE SHIP THIS</a:t>
            </a:r>
            <a:endParaRPr lang="en-US" sz="1200" dirty="0"/>
          </a:p>
        </p:txBody>
      </p:sp>
      <p:sp>
        <p:nvSpPr>
          <p:cNvPr id="3" name="Text 1"/>
          <p:cNvSpPr txBox="1"/>
          <p:nvPr/>
        </p:nvSpPr>
        <p:spPr>
          <a:xfrm>
            <a:off x="548640" y="594360"/>
            <a:ext cx="109728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Data Limitations &amp; Next Steps</a:t>
            </a:r>
            <a:endParaRPr lang="en-US" sz="3000" dirty="0"/>
          </a:p>
        </p:txBody>
      </p:sp>
      <p:sp>
        <p:nvSpPr>
          <p:cNvPr id="4" name="Shape 2"/>
          <p:cNvSpPr/>
          <p:nvPr/>
        </p:nvSpPr>
        <p:spPr>
          <a:xfrm>
            <a:off x="548640" y="1691640"/>
            <a:ext cx="320040" cy="320040"/>
          </a:xfrm>
          <a:prstGeom prst="roundRect">
            <a:avLst>
              <a:gd name="adj" fmla="val 17143"/>
            </a:avLst>
          </a:prstGeom>
          <a:solidFill>
            <a:srgbClr val="C9974B"/>
          </a:solidFill>
          <a:ln/>
        </p:spPr>
      </p:sp>
      <p:sp>
        <p:nvSpPr>
          <p:cNvPr id="5" name="Text 3"/>
          <p:cNvSpPr txBox="1"/>
          <p:nvPr/>
        </p:nvSpPr>
        <p:spPr>
          <a:xfrm>
            <a:off x="548640" y="169164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6" name="Text 4"/>
          <p:cNvSpPr txBox="1"/>
          <p:nvPr/>
        </p:nvSpPr>
        <p:spPr>
          <a:xfrm>
            <a:off x="1051560" y="1645920"/>
            <a:ext cx="10515600" cy="640080"/>
          </a:xfrm>
          <a:prstGeom prst="rect">
            <a:avLst/>
          </a:prstGeom>
          <a:noFill/>
          <a:ln/>
        </p:spPr>
        <p:txBody>
          <a:bodyPr wrap="square" lIns="0" tIns="0" rIns="0" bIns="0" rtlCol="0" anchor="ctr"/>
          <a:lstStyle/>
          <a:p>
            <a:pPr indent="0" marL="0">
              <a:lnSpc>
                <a:spcPct val="120000"/>
              </a:lnSpc>
              <a:buNone/>
            </a:pPr>
            <a:r>
              <a:rPr lang="en-US" sz="1350" dirty="0">
                <a:solidFill>
                  <a:srgbClr val="1F2937"/>
                </a:solidFill>
                <a:latin typeface="Calibri" pitchFamily="34" charset="0"/>
                <a:ea typeface="Calibri" pitchFamily="34" charset="-122"/>
                <a:cs typeface="Calibri" pitchFamily="34" charset="-120"/>
              </a:rPr>
              <a:t>Builder &amp; company name fields contain typos, duplicates, and non-builder text — needs standardization before builder-level claims are used externally.</a:t>
            </a:r>
            <a:endParaRPr lang="en-US" sz="1350" dirty="0"/>
          </a:p>
        </p:txBody>
      </p:sp>
      <p:sp>
        <p:nvSpPr>
          <p:cNvPr id="7" name="Shape 5"/>
          <p:cNvSpPr/>
          <p:nvPr/>
        </p:nvSpPr>
        <p:spPr>
          <a:xfrm>
            <a:off x="548640" y="2560320"/>
            <a:ext cx="320040" cy="320040"/>
          </a:xfrm>
          <a:prstGeom prst="roundRect">
            <a:avLst>
              <a:gd name="adj" fmla="val 17143"/>
            </a:avLst>
          </a:prstGeom>
          <a:solidFill>
            <a:srgbClr val="C9974B"/>
          </a:solidFill>
          <a:ln/>
        </p:spPr>
      </p:sp>
      <p:sp>
        <p:nvSpPr>
          <p:cNvPr id="8" name="Text 6"/>
          <p:cNvSpPr txBox="1"/>
          <p:nvPr/>
        </p:nvSpPr>
        <p:spPr>
          <a:xfrm>
            <a:off x="548640" y="256032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9" name="Text 7"/>
          <p:cNvSpPr txBox="1"/>
          <p:nvPr/>
        </p:nvSpPr>
        <p:spPr>
          <a:xfrm>
            <a:off x="1051560" y="2514600"/>
            <a:ext cx="10515600" cy="640080"/>
          </a:xfrm>
          <a:prstGeom prst="rect">
            <a:avLst/>
          </a:prstGeom>
          <a:noFill/>
          <a:ln/>
        </p:spPr>
        <p:txBody>
          <a:bodyPr wrap="square" lIns="0" tIns="0" rIns="0" bIns="0" rtlCol="0" anchor="ctr"/>
          <a:lstStyle/>
          <a:p>
            <a:pPr indent="0" marL="0">
              <a:lnSpc>
                <a:spcPct val="120000"/>
              </a:lnSpc>
              <a:buNone/>
            </a:pPr>
            <a:r>
              <a:rPr lang="en-US" sz="1350" dirty="0">
                <a:solidFill>
                  <a:srgbClr val="1F2937"/>
                </a:solidFill>
                <a:latin typeface="Calibri" pitchFamily="34" charset="0"/>
                <a:ea typeface="Calibri" pitchFamily="34" charset="-122"/>
                <a:cs typeface="Calibri" pitchFamily="34" charset="-120"/>
              </a:rPr>
              <a:t>Property type is a free-text listing title, not a clean category — use flat_type for category comparisons instead.</a:t>
            </a:r>
            <a:endParaRPr lang="en-US" sz="1350" dirty="0"/>
          </a:p>
        </p:txBody>
      </p:sp>
      <p:sp>
        <p:nvSpPr>
          <p:cNvPr id="10" name="Shape 8"/>
          <p:cNvSpPr/>
          <p:nvPr/>
        </p:nvSpPr>
        <p:spPr>
          <a:xfrm>
            <a:off x="548640" y="3429000"/>
            <a:ext cx="320040" cy="320040"/>
          </a:xfrm>
          <a:prstGeom prst="roundRect">
            <a:avLst>
              <a:gd name="adj" fmla="val 17143"/>
            </a:avLst>
          </a:prstGeom>
          <a:solidFill>
            <a:srgbClr val="C9974B"/>
          </a:solidFill>
          <a:ln/>
        </p:spPr>
      </p:sp>
      <p:sp>
        <p:nvSpPr>
          <p:cNvPr id="11" name="Text 9"/>
          <p:cNvSpPr txBox="1"/>
          <p:nvPr/>
        </p:nvSpPr>
        <p:spPr>
          <a:xfrm>
            <a:off x="548640" y="342900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12" name="Text 10"/>
          <p:cNvSpPr txBox="1"/>
          <p:nvPr/>
        </p:nvSpPr>
        <p:spPr>
          <a:xfrm>
            <a:off x="1051560" y="3383280"/>
            <a:ext cx="10515600" cy="640080"/>
          </a:xfrm>
          <a:prstGeom prst="rect">
            <a:avLst/>
          </a:prstGeom>
          <a:noFill/>
          <a:ln/>
        </p:spPr>
        <p:txBody>
          <a:bodyPr wrap="square" lIns="0" tIns="0" rIns="0" bIns="0" rtlCol="0" anchor="ctr"/>
          <a:lstStyle/>
          <a:p>
            <a:pPr indent="0" marL="0">
              <a:lnSpc>
                <a:spcPct val="120000"/>
              </a:lnSpc>
              <a:buNone/>
            </a:pPr>
            <a:r>
              <a:rPr lang="en-US" sz="1350" dirty="0">
                <a:solidFill>
                  <a:srgbClr val="1F2937"/>
                </a:solidFill>
                <a:latin typeface="Calibri" pitchFamily="34" charset="0"/>
                <a:ea typeface="Calibri" pitchFamily="34" charset="-122"/>
                <a:cs typeface="Calibri" pitchFamily="34" charset="-120"/>
              </a:rPr>
              <a:t>Several headline figures (top BHK, top localities) are driven by a small number of ultra-luxury outliers — worth flagging when quoted to clients.</a:t>
            </a:r>
            <a:endParaRPr lang="en-US" sz="1350" dirty="0"/>
          </a:p>
        </p:txBody>
      </p:sp>
      <p:sp>
        <p:nvSpPr>
          <p:cNvPr id="13" name="Shape 11"/>
          <p:cNvSpPr/>
          <p:nvPr/>
        </p:nvSpPr>
        <p:spPr>
          <a:xfrm>
            <a:off x="548640" y="4297680"/>
            <a:ext cx="320040" cy="320040"/>
          </a:xfrm>
          <a:prstGeom prst="roundRect">
            <a:avLst>
              <a:gd name="adj" fmla="val 17143"/>
            </a:avLst>
          </a:prstGeom>
          <a:solidFill>
            <a:srgbClr val="C9974B"/>
          </a:solidFill>
          <a:ln/>
        </p:spPr>
      </p:sp>
      <p:sp>
        <p:nvSpPr>
          <p:cNvPr id="14" name="Text 12"/>
          <p:cNvSpPr txBox="1"/>
          <p:nvPr/>
        </p:nvSpPr>
        <p:spPr>
          <a:xfrm>
            <a:off x="548640" y="429768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15" name="Text 13"/>
          <p:cNvSpPr txBox="1"/>
          <p:nvPr/>
        </p:nvSpPr>
        <p:spPr>
          <a:xfrm>
            <a:off x="1051560" y="4251960"/>
            <a:ext cx="10515600" cy="640080"/>
          </a:xfrm>
          <a:prstGeom prst="rect">
            <a:avLst/>
          </a:prstGeom>
          <a:noFill/>
          <a:ln/>
        </p:spPr>
        <p:txBody>
          <a:bodyPr wrap="square" lIns="0" tIns="0" rIns="0" bIns="0" rtlCol="0" anchor="ctr"/>
          <a:lstStyle/>
          <a:p>
            <a:pPr indent="0" marL="0">
              <a:lnSpc>
                <a:spcPct val="120000"/>
              </a:lnSpc>
              <a:buNone/>
            </a:pPr>
            <a:r>
              <a:rPr lang="en-US" sz="1350" dirty="0">
                <a:solidFill>
                  <a:srgbClr val="1F2937"/>
                </a:solidFill>
                <a:latin typeface="Calibri" pitchFamily="34" charset="0"/>
                <a:ea typeface="Calibri" pitchFamily="34" charset="-122"/>
                <a:cs typeface="Calibri" pitchFamily="34" charset="-120"/>
              </a:rPr>
              <a:t>The ₹310,000/sqft Sector 46 record looks like a single outlier and should be verified against the source listing.</a:t>
            </a:r>
            <a:endParaRPr lang="en-US" sz="1350" dirty="0"/>
          </a:p>
        </p:txBody>
      </p:sp>
      <p:sp>
        <p:nvSpPr>
          <p:cNvPr id="16" name="Shape 14"/>
          <p:cNvSpPr/>
          <p:nvPr/>
        </p:nvSpPr>
        <p:spPr>
          <a:xfrm>
            <a:off x="548640" y="5166360"/>
            <a:ext cx="320040" cy="320040"/>
          </a:xfrm>
          <a:prstGeom prst="roundRect">
            <a:avLst>
              <a:gd name="adj" fmla="val 17143"/>
            </a:avLst>
          </a:prstGeom>
          <a:solidFill>
            <a:srgbClr val="C9974B"/>
          </a:solidFill>
          <a:ln/>
        </p:spPr>
      </p:sp>
      <p:sp>
        <p:nvSpPr>
          <p:cNvPr id="17" name="Text 15"/>
          <p:cNvSpPr txBox="1"/>
          <p:nvPr/>
        </p:nvSpPr>
        <p:spPr>
          <a:xfrm>
            <a:off x="548640" y="516636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18" name="Text 16"/>
          <p:cNvSpPr txBox="1"/>
          <p:nvPr/>
        </p:nvSpPr>
        <p:spPr>
          <a:xfrm>
            <a:off x="1051560" y="5120640"/>
            <a:ext cx="10515600" cy="640080"/>
          </a:xfrm>
          <a:prstGeom prst="rect">
            <a:avLst/>
          </a:prstGeom>
          <a:noFill/>
          <a:ln/>
        </p:spPr>
        <p:txBody>
          <a:bodyPr wrap="square" lIns="0" tIns="0" rIns="0" bIns="0" rtlCol="0" anchor="ctr"/>
          <a:lstStyle/>
          <a:p>
            <a:pPr indent="0" marL="0">
              <a:lnSpc>
                <a:spcPct val="120000"/>
              </a:lnSpc>
              <a:buNone/>
            </a:pPr>
            <a:r>
              <a:rPr lang="en-US" sz="1350" dirty="0">
                <a:solidFill>
                  <a:srgbClr val="1F2937"/>
                </a:solidFill>
                <a:latin typeface="Calibri" pitchFamily="34" charset="0"/>
                <a:ea typeface="Calibri" pitchFamily="34" charset="-122"/>
                <a:cs typeface="Calibri" pitchFamily="34" charset="-120"/>
              </a:rPr>
              <a:t>Recommended next step: a data-cleaning pass on categorical fields, followed by outlier-aware (median/IQR) reporting for any externally shared figures.</a:t>
            </a:r>
            <a:endParaRPr lang="en-US" sz="1350" dirty="0"/>
          </a:p>
        </p:txBody>
      </p:sp>
      <p:sp>
        <p:nvSpPr>
          <p:cNvPr id="19" name="Text 17"/>
          <p:cNvSpPr txBox="1"/>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A6B87"/>
                </a:solidFill>
                <a:latin typeface="Calibri" pitchFamily="34" charset="0"/>
                <a:ea typeface="Calibri" pitchFamily="34" charset="-122"/>
                <a:cs typeface="Calibri" pitchFamily="34" charset="-120"/>
              </a:rPr>
              <a:t>Gurgaon Real Estate Market Analysis</a:t>
            </a:r>
            <a:endParaRPr lang="en-US" sz="900" dirty="0"/>
          </a:p>
        </p:txBody>
      </p:sp>
      <p:sp>
        <p:nvSpPr>
          <p:cNvPr id="20" name="Text 18"/>
          <p:cNvSpPr txBox="1"/>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A6B8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2651760"/>
            <a:ext cx="73152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Text 1"/>
          <p:cNvSpPr txBox="1"/>
          <p:nvPr/>
        </p:nvSpPr>
        <p:spPr>
          <a:xfrm>
            <a:off x="777240" y="3429000"/>
            <a:ext cx="7315200" cy="4572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Questions &amp; discussion welcome.</a:t>
            </a:r>
            <a:endParaRPr lang="en-US" sz="1600" dirty="0"/>
          </a:p>
        </p:txBody>
      </p:sp>
      <p:sp>
        <p:nvSpPr>
          <p:cNvPr id="4" name="Text 2"/>
          <p:cNvSpPr txBox="1"/>
          <p:nvPr/>
        </p:nvSpPr>
        <p:spPr>
          <a:xfrm>
            <a:off x="777240" y="3931920"/>
            <a:ext cx="7315200" cy="457200"/>
          </a:xfrm>
          <a:prstGeom prst="rect">
            <a:avLst/>
          </a:prstGeom>
          <a:noFill/>
          <a:ln/>
        </p:spPr>
        <p:txBody>
          <a:bodyPr wrap="square" lIns="0" tIns="0" rIns="0" bIns="0" rtlCol="0" anchor="ctr"/>
          <a:lstStyle/>
          <a:p>
            <a:pPr indent="0" marL="0">
              <a:buNone/>
            </a:pPr>
            <a:r>
              <a:rPr lang="en-US" sz="1200" dirty="0">
                <a:solidFill>
                  <a:srgbClr val="5A6B87"/>
                </a:solidFill>
                <a:latin typeface="Calibri" pitchFamily="34" charset="0"/>
                <a:ea typeface="Calibri" pitchFamily="34" charset="-122"/>
                <a:cs typeface="Calibri" pitchFamily="34" charset="-120"/>
              </a:rPr>
              <a:t>Full analysis notebook and source data references available on request.</a:t>
            </a:r>
            <a:endParaRPr lang="en-US" sz="1200" dirty="0"/>
          </a:p>
        </p:txBody>
      </p:sp>
      <p:sp>
        <p:nvSpPr>
          <p:cNvPr id="5" name="Shape 3"/>
          <p:cNvSpPr/>
          <p:nvPr/>
        </p:nvSpPr>
        <p:spPr>
          <a:xfrm>
            <a:off x="0" y="6537960"/>
            <a:ext cx="12188952" cy="320040"/>
          </a:xfrm>
          <a:prstGeom prst="rect">
            <a:avLst/>
          </a:prstGeom>
          <a:solidFill>
            <a:srgbClr val="141B49"/>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2026-09-02T11:39:18Z</dcterms:created>
  <dcterms:modified xsi:type="dcterms:W3CDTF">2026-09-02T11:39:18Z</dcterms:modified>
</cp:coreProperties>
</file>